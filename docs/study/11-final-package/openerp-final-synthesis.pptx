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06-functional-map/agentic-functional-map.md" TargetMode="External" /><Relationship Id="rId3" Type="http://schemas.openxmlformats.org/officeDocument/2006/relationships/hyperlink" Target="../07-mvp/agentic-mvp-addendum.md" TargetMode="External" /><Relationship Id="rId4" Type="http://schemas.openxmlformats.org/officeDocument/2006/relationships/hyperlink" Target="../12-agentic/"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agents-by-use-case.md" TargetMode="External" /><Relationship Id="rId3" Type="http://schemas.openxmlformats.org/officeDocument/2006/relationships/hyperlink" Target="../12-agentic/patterns-library.md" TargetMode="External" /><Relationship Id="rId4" Type="http://schemas.openxmlformats.org/officeDocument/2006/relationships/hyperlink" Target="../02-fiches/" TargetMode="External" /><Relationship Id="rId5" Type="http://schemas.openxmlformats.org/officeDocument/2006/relationships/hyperlink" Target="../12-agentic/vertical-packs-surface-map.md"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entropiq-audit.md" TargetMode="External" /><Relationship Id="rId3" Type="http://schemas.openxmlformats.org/officeDocument/2006/relationships/hyperlink" Target="../12-agentic/runtime-safety-functional-map.md" TargetMode="External" /><Relationship Id="rId4" Type="http://schemas.openxmlformats.org/officeDocument/2006/relationships/hyperlink" Target="../07-mvp/agentic-mvp-addendum.md"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identity-design-space.md" TargetMode="External" /><Relationship Id="rId3" Type="http://schemas.openxmlformats.org/officeDocument/2006/relationships/hyperlink" Target="../12-agentic/business-autonomy-design-space.md"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marketplace-design-space.md"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runtime-safety-functional-map.md" TargetMode="External" /><Relationship Id="rId3" Type="http://schemas.openxmlformats.org/officeDocument/2006/relationships/hyperlink" Target="../12-agentic/human-supervision-design-space.md"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01-corpus/agentic-corpus-report.md" TargetMode="External" /><Relationship Id="rId3" Type="http://schemas.openxmlformats.org/officeDocument/2006/relationships/hyperlink" Target="../04-proprietary-references/agentic-references.md" TargetMode="External" /><Relationship Id="rId4" Type="http://schemas.openxmlformats.org/officeDocument/2006/relationships/hyperlink" Target="../12-agentic/startups-deep-research.md"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2-agentic/license-posture.md" TargetMode="External" /><Relationship Id="rId3" Type="http://schemas.openxmlformats.org/officeDocument/2006/relationships/hyperlink" Target="../08-anti-copy/agentic-anti-copy-addendum.md"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10-mvp-specs/agentic-impacts.md"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Synthese Finale OpenERP</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Avancement</a:t>
            </a:r>
          </a:p>
        </p:txBody>
      </p:sp>
      <p:sp>
        <p:nvSpPr>
          <p:cNvPr id="3" name="Content Placeholder 2"/>
          <p:cNvSpPr>
            <a:spLocks noGrp="1"/>
          </p:cNvSpPr>
          <p:nvPr>
            <p:ph idx="1"/>
          </p:nvPr>
        </p:nvSpPr>
        <p:spPr/>
        <p:txBody>
          <a:bodyPr/>
          <a:lstStyle/>
          <a:p>
            <a:pPr lvl="0" indent="0" marL="0">
              <a:buNone/>
            </a:pPr>
            <a:r>
              <a:rPr/>
              <a:t>Fait: etude corpus, fiches, shortlist, Graphify wave A, extension collaboration, extension agentique, carte fonctionnelle, recommandation MVP, dossier anti-copy, recherche Canada/Quebec, specs MVP enrichies, decision-pack arbitrage 2026-05-14 cloturé (12 decisions programme + 30 decisions spec), shared-entities canon v1, NOTICE, anti-copy-grep script, veille charts, PR @sentropic mergee, plan d’implementation foundation publie. À faire: démarrer le sprint impl foundation (lot 0 à 6 du plan </a:t>
            </a:r>
            <a:r>
              <a:rPr>
                <a:latin typeface="Courier"/>
              </a:rPr>
              <a:t>2026-05-14-foundation-implementation.md</a:t>
            </a:r>
            <a:r>
              <a:rPr/>
              <a:t>); les decisions sont figees, le canon transverse </a:t>
            </a:r>
            <a:r>
              <a:rPr>
                <a:latin typeface="Courier"/>
              </a:rPr>
              <a:t>shared-entities-v1.md</a:t>
            </a:r>
            <a:r>
              <a:rPr/>
              <a:t> sert de contrat. Attendu: relais dev par autre agent (codex) sur PR </a:t>
            </a:r>
            <a:r>
              <a:rPr>
                <a:latin typeface="Courier"/>
              </a:rPr>
              <a:t>@sentropic</a:t>
            </a:r>
            <a:r>
              <a:rPr/>
              <a:t> BR-26 + lots foundation OpenERP; toi en supervision/audit.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Produit</a:t>
            </a:r>
          </a:p>
        </p:txBody>
      </p:sp>
      <p:sp>
        <p:nvSpPr>
          <p:cNvPr id="3" name="Content Placeholder 2"/>
          <p:cNvSpPr>
            <a:spLocks noGrp="1"/>
          </p:cNvSpPr>
          <p:nvPr>
            <p:ph idx="1"/>
          </p:nvPr>
        </p:nvSpPr>
        <p:spPr/>
        <p:txBody>
          <a:bodyPr/>
          <a:lstStyle/>
          <a:p>
            <a:pPr lvl="0" indent="0" marL="0">
              <a:buNone/>
            </a:pPr>
            <a:r>
              <a:rPr/>
              <a:t>Construire un ERP/CRM/back-office MIT, bilingue FR/EN, oriente services et petites/moyennes entreprises sous 2B de chiffre d’affaires.</a:t>
            </a:r>
          </a:p>
          <a:p>
            <a:pPr lvl="0" indent="0" marL="0">
              <a:buNone/>
            </a:pPr>
            <a:r>
              <a:rPr/>
              <a:t>Le MVP ne doit pas etre un clone complet d’Odoo, Twenty, Workday, Wave, Superset ou Node-RED. Il doit etre un produit original, centre sur le flux:</a:t>
            </a:r>
          </a:p>
          <a:p>
            <a:pPr lvl="0" indent="0">
              <a:buNone/>
            </a:pPr>
            <a:r>
              <a:rPr>
                <a:latin typeface="Courier"/>
              </a:rPr>
              <a:t>CRM -&gt; contrat/offre -&gt; projet/service -&gt; temps approuve -&gt; facture -&gt; ecriture comptable -&gt; reporting -&gt; automation typee</a:t>
            </a:r>
          </a:p>
          <a:p>
            <a:pPr lvl="0" indent="0" marL="0">
              <a:buNone/>
            </a:pPr>
            <a:r>
              <a:rPr/>
              <a:t>Manufacturing, WMS, planning, MES, qualite et maintenance restent des vertical packs. Ils doivent etre prepares dans le modele, mais pas au centre du premier MVP.</a:t>
            </a:r>
          </a:p>
          <a:p>
            <a:pPr lvl="0" indent="0" marL="0">
              <a:buNone/>
            </a:pPr>
            <a:r>
              <a:rPr/>
              <a:t>La collaboration est une couche transverse du produit (“transverse layer”), pas un deuxieme produit. Elle doit enrichir les objets ERP/CRM: client, opportunite, devis, contrat, projet, tache, temps, facture, support, actif, ordre de travail et audit.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De Preuve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Element</a:t>
                      </a:r>
                    </a:p>
                  </a:txBody>
                  <a:tcPr/>
                </a:tc>
                <a:tc>
                  <a:txBody>
                    <a:bodyPr/>
                    <a:lstStyle/>
                    <a:p>
                      <a:pPr lvl="0" indent="0" marL="0">
                        <a:buNone/>
                      </a:pPr>
                      <a:r>
                        <a:rPr/>
                        <a:t>Resultat</a:t>
                      </a:r>
                    </a:p>
                  </a:txBody>
                  <a:tcPr/>
                </a:tc>
              </a:tr>
              <a:tr h="0">
                <a:tc>
                  <a:txBody>
                    <a:bodyPr/>
                    <a:lstStyle/>
                    <a:p>
                      <a:pPr lvl="0" indent="0" marL="0">
                        <a:buNone/>
                      </a:pPr>
                      <a:r>
                        <a:rPr/>
                        <a:t>Corpus open source</a:t>
                      </a:r>
                    </a:p>
                  </a:txBody>
                </a:tc>
                <a:tc>
                  <a:txBody>
                    <a:bodyPr/>
                    <a:lstStyle/>
                    <a:p>
                      <a:pPr lvl="0" indent="0" marL="0">
                        <a:buNone/>
                      </a:pPr>
                      <a:r>
                        <a:rPr/>
                        <a:t>44 projets documentes par fiches, dont 17 ajouts collaboration.</a:t>
                      </a:r>
                    </a:p>
                  </a:txBody>
                </a:tc>
              </a:tr>
              <a:tr h="0">
                <a:tc>
                  <a:txBody>
                    <a:bodyPr/>
                    <a:lstStyle/>
                    <a:p>
                      <a:pPr lvl="0" indent="0" marL="0">
                        <a:buNone/>
                      </a:pPr>
                      <a:r>
                        <a:rPr/>
                        <a:t>Graphify</a:t>
                      </a:r>
                    </a:p>
                  </a:txBody>
                </a:tc>
                <a:tc>
                  <a:txBody>
                    <a:bodyPr/>
                    <a:lstStyle/>
                    <a:p>
                      <a:pPr lvl="0" indent="0" marL="0">
                        <a:buNone/>
                      </a:pPr>
                      <a:r>
                        <a:rPr/>
                        <a:t>32 runs TypeScript-runtime, dont BookStack, Baserow et Zulip pour l’extension collaboration.</a:t>
                      </a:r>
                    </a:p>
                  </a:txBody>
                </a:tc>
              </a:tr>
              <a:tr h="0">
                <a:tc>
                  <a:txBody>
                    <a:bodyPr/>
                    <a:lstStyle/>
                    <a:p>
                      <a:pPr lvl="0" indent="0" marL="0">
                        <a:buNone/>
                      </a:pPr>
                      <a:r>
                        <a:rPr/>
                        <a:t>Proprietary references</a:t>
                      </a:r>
                    </a:p>
                  </a:txBody>
                </a:tc>
                <a:tc>
                  <a:txBody>
                    <a:bodyPr/>
                    <a:lstStyle/>
                    <a:p>
                      <a:pPr lvl="0" indent="0" marL="0">
                        <a:buNone/>
                      </a:pPr>
                      <a:r>
                        <a:rPr/>
                        <a:t>Workday, Wave, QuickBooks, Sage, SAP Business One et autres gardes comme benchmarks publics uniquement.</a:t>
                      </a:r>
                    </a:p>
                  </a:txBody>
                </a:tc>
              </a:tr>
              <a:tr h="0">
                <a:tc>
                  <a:txBody>
                    <a:bodyPr/>
                    <a:lstStyle/>
                    <a:p>
                      <a:pPr lvl="0" indent="0" marL="0">
                        <a:buNone/>
                      </a:pPr>
                      <a:r>
                        <a:rPr/>
                        <a:t>Collaboration references</a:t>
                      </a:r>
                    </a:p>
                  </a:txBody>
                </a:tc>
                <a:tc>
                  <a:txBody>
                    <a:bodyPr/>
                    <a:lstStyle/>
                    <a:p>
                      <a:pPr lvl="0" indent="0" marL="0">
                        <a:buNone/>
                      </a:pPr>
                      <a:r>
                        <a:rPr/>
                        <a:t>Notion, ClickUp, Airtable, Monday, Asana, Slack et Teams comme benchmarks publics uniquement.</a:t>
                      </a:r>
                    </a:p>
                  </a:txBody>
                </a:tc>
              </a:tr>
              <a:tr h="0">
                <a:tc>
                  <a:txBody>
                    <a:bodyPr/>
                    <a:lstStyle/>
                    <a:p>
                      <a:pPr lvl="0" indent="0" marL="0">
                        <a:buNone/>
                      </a:pPr>
                      <a:r>
                        <a:rPr/>
                        <a:t>Agentic references</a:t>
                      </a:r>
                    </a:p>
                  </a:txBody>
                </a:tc>
                <a:tc>
                  <a:txBody>
                    <a:bodyPr/>
                    <a:lstStyle/>
                    <a:p>
                      <a:pPr lvl="0" indent="0" marL="0">
                        <a:buNone/>
                      </a:pPr>
                      <a:r>
                        <a:rPr/>
                        <a:t>Corpus agentique, 50 entreprises datees et design spaces runtime/identite/autonomie/marketplace/supervision.</a:t>
                      </a:r>
                    </a:p>
                  </a:txBody>
                </a:tc>
              </a:tr>
              <a:tr h="0">
                <a:tc>
                  <a:txBody>
                    <a:bodyPr/>
                    <a:lstStyle/>
                    <a:p>
                      <a:pPr lvl="0" indent="0" marL="0">
                        <a:buNone/>
                      </a:pPr>
                      <a:r>
                        <a:rPr/>
                        <a:t>Recherche statutaire</a:t>
                      </a:r>
                    </a:p>
                  </a:txBody>
                </a:tc>
                <a:tc>
                  <a:txBody>
                    <a:bodyPr/>
                    <a:lstStyle/>
                    <a:p>
                      <a:pPr lvl="0" indent="0" marL="0">
                        <a:buNone/>
                      </a:pPr>
                      <a:r>
                        <a:rPr/>
                        <a:t>Sources officielles CRA, Revenu Quebec et CNESST pour cadrer paie, GST/QST, slips, remises, bulletins de paie, registre des salaires, vacances et jours feries.</a:t>
                      </a:r>
                    </a:p>
                  </a:txBody>
                </a:tc>
              </a:tr>
              <a:tr h="0">
                <a:tc>
                  <a:txBody>
                    <a:bodyPr/>
                    <a:lstStyle/>
                    <a:p>
                      <a:pPr lvl="0" indent="0" marL="0">
                        <a:buNone/>
                      </a:pPr>
                      <a:r>
                        <a:rPr/>
                        <a:t>Specs MVP</a:t>
                      </a:r>
                    </a:p>
                  </a:txBody>
                </a:tc>
                <a:tc>
                  <a:txBody>
                    <a:bodyPr/>
                    <a:lstStyle/>
                    <a:p>
                      <a:pPr lvl="0" indent="0" marL="0">
                        <a:buNone/>
                      </a:pPr>
                      <a:r>
                        <a:rPr/>
                        <a:t>5 specs implementation-ready: foundation/security/i18n, CRM, project/time-to-invoice, billing/accounting, reporting/automation.</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Extension</a:t>
            </a:r>
          </a:p>
        </p:txBody>
      </p:sp>
      <p:sp>
        <p:nvSpPr>
          <p:cNvPr id="3" name="Content Placeholder 2"/>
          <p:cNvSpPr>
            <a:spLocks noGrp="1"/>
          </p:cNvSpPr>
          <p:nvPr>
            <p:ph idx="1"/>
          </p:nvPr>
        </p:nvSpPr>
        <p:spPr/>
        <p:txBody>
          <a:bodyPr/>
          <a:lstStyle/>
          <a:p>
            <a:pPr lvl="0" indent="0" marL="0">
              <a:buNone/>
            </a:pPr>
            <a:r>
              <a:rPr/>
              <a:t>L’extension couvre quatre familles:</a:t>
            </a:r>
          </a:p>
          <a:p>
            <a:pPr lvl="0"/>
            <a:r>
              <a:rPr/>
              <a:t>knowledge workspace: pages client/projet, notes de reunion, SOPs, handover et fichiers;</a:t>
            </a:r>
          </a:p>
          <a:p>
            <a:pPr lvl="0"/>
            <a:r>
              <a:rPr/>
              <a:t>work management: taches legeres, decisions, approbations, formulaires et vues de suivi;</a:t>
            </a:r>
          </a:p>
          <a:p>
            <a:pPr lvl="0"/>
            <a:r>
              <a:rPr/>
              <a:t>async communication: commentaires, mentions, notifications et activite objet;</a:t>
            </a:r>
          </a:p>
          <a:p>
            <a:pPr lvl="0"/>
            <a:r>
              <a:rPr/>
              <a:t>collaboration controls: permissions heritees, audit, recherche, exports, retention et self-hosted.</a:t>
            </a:r>
          </a:p>
          <a:p>
            <a:pPr lvl="0" indent="0" marL="0">
              <a:buNone/>
            </a:pPr>
            <a:r>
              <a:rPr/>
              <a:t>Le positionnement reste ERP/CRM-first. OpenERP ne doit pas lancer un clone Notion, ClickUp, Slack ou Airtable dans le MVP. Les fonctions collaboration doivent etre attachees a des objets metier et reutiliser foundation/security/i18n.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Corpus Evidence</a:t>
            </a:r>
          </a:p>
        </p:txBody>
      </p:sp>
      <p:sp>
        <p:nvSpPr>
          <p:cNvPr id="3" name="Content Placeholder 2"/>
          <p:cNvSpPr>
            <a:spLocks noGrp="1"/>
          </p:cNvSpPr>
          <p:nvPr>
            <p:ph idx="1"/>
          </p:nvPr>
        </p:nvSpPr>
        <p:spPr/>
        <p:txBody>
          <a:bodyPr/>
          <a:lstStyle/>
          <a:p>
            <a:pPr lvl="0" indent="0" marL="0">
              <a:buNone/>
            </a:pPr>
            <a:r>
              <a:rPr/>
              <a:t>Le corpus collaboration ajoute AFFiNE, Anytype, AppFlowy, Baserow, BookStack, Docmost, Focalboard, Huly, Logseq, Mattermost, NocoDB, Outline, Plane, Rocket.Chat, Taiga, Vikunja et Zulip.</a:t>
            </a:r>
          </a:p>
          <a:p>
            <a:pPr lvl="0" indent="0" marL="0">
              <a:buNone/>
            </a:pPr>
            <a:r>
              <a:rPr/>
              <a:t>La conclusion de reuse est prudente:</a:t>
            </a:r>
          </a:p>
          <a:p>
            <a:pPr lvl="0"/>
            <a:r>
              <a:rPr/>
              <a:t>BookStack et Zulip sont les sources les plus propres pour inspiration technique permissive, avec attribution et reecriture;</a:t>
            </a:r>
          </a:p>
          <a:p>
            <a:pPr lvl="0"/>
            <a:r>
              <a:rPr/>
              <a:t>Baserow est interessant pour base/table/formulaire, mais ses frontieres premium/enterprise doivent rester separees;</a:t>
            </a:r>
          </a:p>
          <a:p>
            <a:pPr lvl="0"/>
            <a:r>
              <a:rPr/>
              <a:t>Rocket.Chat est exploitable seulement avec revue fichier par fichier a cause des zones enterprise;</a:t>
            </a:r>
          </a:p>
          <a:p>
            <a:pPr lvl="0"/>
            <a:r>
              <a:rPr/>
              <a:t>Outline, Anytype, AppFlowy, Docmost, Logseq, Plane, Vikunja, NocoDB, Mattermost, Taiga et Huly restent des references fonctionnelles ou publiques selon leur licence et leur structure.</a:t>
            </a:r>
          </a:p>
          <a:p>
            <a:pPr lvl="0" indent="0" marL="0">
              <a:buNone/>
            </a:pPr>
            <a:r>
              <a:rPr/>
              <a:t>Graphify a ete applique a BookStack, Baserow et Zulip pour isoler des patterns generiques: permissions wiki, noyau database/workspace et communication asynchrone. Les graphes servent a comprendre les domaines; ils ne deviennent pas une source de copie.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MVP Impact</a:t>
            </a:r>
          </a:p>
        </p:txBody>
      </p:sp>
      <p:sp>
        <p:nvSpPr>
          <p:cNvPr id="3" name="Content Placeholder 2"/>
          <p:cNvSpPr>
            <a:spLocks noGrp="1"/>
          </p:cNvSpPr>
          <p:nvPr>
            <p:ph idx="1"/>
          </p:nvPr>
        </p:nvSpPr>
        <p:spPr/>
        <p:txBody>
          <a:bodyPr/>
          <a:lstStyle/>
          <a:p>
            <a:pPr lvl="0" indent="0" marL="0">
              <a:buNone/>
            </a:pPr>
            <a:r>
              <a:rPr/>
              <a:t>Ajouter au MVP:</a:t>
            </a:r>
          </a:p>
          <a:p>
            <a:pPr lvl="0"/>
            <a:r>
              <a:rPr/>
              <a:t>commentaires et mentions sur objets ERP/CRM;</a:t>
            </a:r>
          </a:p>
          <a:p>
            <a:pPr lvl="0"/>
            <a:r>
              <a:rPr/>
              <a:t>fichiers attaches aux clients, opportunites, projets, taches, temps, factures, support, actifs et ordres de travail;</a:t>
            </a:r>
          </a:p>
          <a:p>
            <a:pPr lvl="0"/>
            <a:r>
              <a:rPr/>
              <a:t>timeline objet combinant evenements systeme, commentaires, fichiers et decisions;</a:t>
            </a:r>
          </a:p>
          <a:p>
            <a:pPr lvl="0"/>
            <a:r>
              <a:rPr/>
              <a:t>decisions et approbations structurees;</a:t>
            </a:r>
          </a:p>
          <a:p>
            <a:pPr lvl="0"/>
            <a:r>
              <a:rPr/>
              <a:t>taches legeres liees aux objets metier;</a:t>
            </a:r>
          </a:p>
          <a:p>
            <a:pPr lvl="0"/>
            <a:r>
              <a:rPr/>
              <a:t>pages client/projet pour notes, SOPs et handover;</a:t>
            </a:r>
          </a:p>
          <a:p>
            <a:pPr lvl="0"/>
            <a:r>
              <a:rPr/>
              <a:t>inbox de notifications regroupee par objet;</a:t>
            </a:r>
          </a:p>
          <a:p>
            <a:pPr lvl="0"/>
            <a:r>
              <a:rPr/>
              <a:t>recherche permission-aware sur pages, commentaires, fichiers, decisions et taches.</a:t>
            </a:r>
          </a:p>
          <a:p>
            <a:pPr lvl="0" indent="0" marL="0">
              <a:buNone/>
            </a:pPr>
            <a:r>
              <a:rPr/>
              <a:t>Post-MVP: templates riches, rooms client, formulaires avances, synchronisation outils externes et vues de charge. A deferer: chat generique, workspace database generique, whiteboard avance, marketplace bots et no-code app builder.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License And Anti-Copy</a:t>
            </a:r>
          </a:p>
        </p:txBody>
      </p:sp>
      <p:sp>
        <p:nvSpPr>
          <p:cNvPr id="3" name="Content Placeholder 2"/>
          <p:cNvSpPr>
            <a:spLocks noGrp="1"/>
          </p:cNvSpPr>
          <p:nvPr>
            <p:ph idx="1"/>
          </p:nvPr>
        </p:nvSpPr>
        <p:spPr/>
        <p:txBody>
          <a:bodyPr/>
          <a:lstStyle/>
          <a:p>
            <a:pPr lvl="0" indent="0" marL="0">
              <a:buNone/>
            </a:pPr>
            <a:r>
              <a:rPr/>
              <a:t>Target: MIT.</a:t>
            </a:r>
          </a:p>
          <a:p>
            <a:pPr lvl="0" indent="0" marL="0">
              <a:buNone/>
            </a:pPr>
            <a:r>
              <a:rPr/>
              <a:t>Les sources MIT/Apache/BSD peuvent informer l’architecture avec attribution et notices. Les sources AGPL/GPL, BSL, source-available et proprietaires restent functional reference only ou public benchmark only. Meme avec une licence permissive, l’implementation doit etre reecrite depuis les specs OpenERP.</a:t>
            </a:r>
          </a:p>
          <a:p>
            <a:pPr lvl="0" indent="0" marL="0">
              <a:buNone/>
            </a:pPr>
            <a:r>
              <a:rPr/>
              <a:t>Ne pas reutiliser code, UI text, docs, assets, screenshots, tests, demo data, schemas, API shapes, templates, slash commands, noms de blocs, routes, payloads ou workflow structures. Les surfaces collaboration sont particulierement reconnaissables; le controle anti-copy doit donc etre applique avant chaque merge de ce domaine.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Extension</a:t>
            </a:r>
          </a:p>
        </p:txBody>
      </p:sp>
      <p:sp>
        <p:nvSpPr>
          <p:cNvPr id="3" name="Content Placeholder 2"/>
          <p:cNvSpPr>
            <a:spLocks noGrp="1"/>
          </p:cNvSpPr>
          <p:nvPr>
            <p:ph idx="1"/>
          </p:nvPr>
        </p:nvSpPr>
        <p:spPr/>
        <p:txBody>
          <a:bodyPr/>
          <a:lstStyle/>
          <a:p>
            <a:pPr lvl="0" indent="0" marL="0">
              <a:buNone/>
            </a:pPr>
            <a:r>
              <a:rPr/>
              <a:t>L’extension agentique complete l’etude avec un cadrage fonctionnel, runtime, gouvernance et anti-copy pour des agents supervises dans OpenERP. Les sources principales sont la carte fonctionnelle agentique </a:t>
            </a:r>
            <a:r>
              <a:rPr>
                <a:hlinkClick r:id="rId2"/>
                <a:latin typeface="Courier"/>
              </a:rPr>
              <a:t>docs/study/06-functional-map/agentic-functional-map.md</a:t>
            </a:r>
            <a:r>
              <a:rPr/>
              <a:t>, l’addendum MVP </a:t>
            </a:r>
            <a:r>
              <a:rPr>
                <a:hlinkClick r:id="rId3"/>
                <a:latin typeface="Courier"/>
              </a:rPr>
              <a:t>docs/study/07-mvp/agentic-mvp-addendum.md</a:t>
            </a:r>
            <a:r>
              <a:rPr/>
              <a:t> et les design spaces dans </a:t>
            </a:r>
            <a:r>
              <a:rPr>
                <a:hlinkClick r:id="rId4"/>
                <a:latin typeface="Courier"/>
              </a:rPr>
              <a:t>docs/study/12-agentic/</a:t>
            </a:r>
            <a:r>
              <a:rPr/>
              <a:t>.</a:t>
            </a:r>
          </a:p>
          <a:p>
            <a:pPr lvl="0" indent="0" marL="0">
              <a:buNone/>
            </a:pPr>
            <a:r>
              <a:rPr/>
              <a:t>La posture reste ERP/CRM-first: l’agent n’est pas un produit separe, ni un constructeur generaliste. Il augmente les objets OpenERP existants avec aide a la qualification, classification, rapprochement, synthese, relance, reporting et decision objet.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Functional Headline</a:t>
            </a:r>
          </a:p>
        </p:txBody>
      </p:sp>
      <p:sp>
        <p:nvSpPr>
          <p:cNvPr id="3" name="Content Placeholder 2"/>
          <p:cNvSpPr>
            <a:spLocks noGrp="1"/>
          </p:cNvSpPr>
          <p:nvPr>
            <p:ph idx="1"/>
          </p:nvPr>
        </p:nvSpPr>
        <p:spPr/>
        <p:txBody>
          <a:bodyPr/>
          <a:lstStyle/>
          <a:p>
            <a:pPr lvl="0" indent="0" marL="0">
              <a:buNone/>
            </a:pPr>
            <a:r>
              <a:rPr/>
              <a:t>Le headline fonctionnel est: </a:t>
            </a:r>
            <a:r>
              <a:rPr b="1"/>
              <a:t>agents supervises pour accelerer le flux lead -&gt; projet -&gt; temps -&gt; facture -&gt; rapprochement -&gt; reporting -&gt; decision objet</a:t>
            </a:r>
            <a:r>
              <a:rPr/>
              <a:t>.</a:t>
            </a:r>
          </a:p>
          <a:p>
            <a:pPr lvl="0" indent="0" marL="0">
              <a:buNone/>
            </a:pPr>
            <a:r>
              <a:rPr/>
              <a:t>Les familles MVP retenues sont CRM, project/service delivery, billing, accounting operations, reporting/automation et object-bound collaboration. Le detail est dans </a:t>
            </a:r>
            <a:r>
              <a:rPr>
                <a:hlinkClick r:id="rId2"/>
                <a:latin typeface="Courier"/>
              </a:rPr>
              <a:t>docs/study/12-agentic/agents-by-use-case.md</a:t>
            </a:r>
            <a:r>
              <a:rPr/>
              <a:t>, </a:t>
            </a:r>
            <a:r>
              <a:rPr>
                <a:hlinkClick r:id="rId3"/>
                <a:latin typeface="Courier"/>
              </a:rPr>
              <a:t>docs/study/12-agentic/patterns-library.md</a:t>
            </a:r>
            <a:r>
              <a:rPr/>
              <a:t> et les fiches agentiques de </a:t>
            </a:r>
            <a:r>
              <a:rPr>
                <a:hlinkClick r:id="rId4"/>
                <a:latin typeface="Courier"/>
              </a:rPr>
              <a:t>docs/study/02-fiches/</a:t>
            </a:r>
            <a:r>
              <a:rPr/>
              <a:t>.</a:t>
            </a:r>
          </a:p>
          <a:p>
            <a:pPr lvl="0" indent="0" marL="0">
              <a:buNone/>
            </a:pPr>
            <a:r>
              <a:rPr/>
              <a:t>Les vertical packs procurement, MES, WMS, payroll et manufacturing planning restent later vertical packs, not part of the agentic MVP; voir </a:t>
            </a:r>
            <a:r>
              <a:rPr>
                <a:hlinkClick r:id="rId5"/>
                <a:latin typeface="Courier"/>
              </a:rPr>
              <a:t>docs/study/12-agentic/vertical-packs-surface-map.md</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Runtime Base: </a:t>
            </a:r>
            <a:r>
              <a:rPr>
                <a:latin typeface="Courier"/>
              </a:rPr>
              <a:t>@sentropic</a:t>
            </a:r>
          </a:p>
        </p:txBody>
      </p:sp>
      <p:sp>
        <p:nvSpPr>
          <p:cNvPr id="3" name="Content Placeholder 2"/>
          <p:cNvSpPr>
            <a:spLocks noGrp="1"/>
          </p:cNvSpPr>
          <p:nvPr>
            <p:ph idx="1"/>
          </p:nvPr>
        </p:nvSpPr>
        <p:spPr/>
        <p:txBody>
          <a:bodyPr/>
          <a:lstStyle/>
          <a:p>
            <a:pPr lvl="0" indent="0" marL="0">
              <a:buNone/>
            </a:pPr>
            <a:r>
              <a:rPr/>
              <a:t>Le runtime de base recommande </a:t>
            </a:r>
            <a:r>
              <a:rPr>
                <a:latin typeface="Courier"/>
              </a:rPr>
              <a:t>@sentropic</a:t>
            </a:r>
            <a:r>
              <a:rPr/>
              <a:t> comme ancre: client LLM, tool calling type, boucle agent persistante, chat session, workflow state machine, streaming et trace recording. L’audit est documente dans </a:t>
            </a:r>
            <a:r>
              <a:rPr>
                <a:hlinkClick r:id="rId2"/>
                <a:latin typeface="Courier"/>
              </a:rPr>
              <a:t>docs/study/12-agentic/entropiq-audit.md</a:t>
            </a:r>
            <a:r>
              <a:rPr/>
              <a:t>.</a:t>
            </a:r>
          </a:p>
          <a:p>
            <a:pPr lvl="0" indent="0" marL="0">
              <a:buNone/>
            </a:pPr>
            <a:r>
              <a:rPr/>
              <a:t>Deux manques doivent etre ajoutes avant usage produit: MCP client/server et policy hooks pre-call/post-call. La posture runtime complete est dans </a:t>
            </a:r>
            <a:r>
              <a:rPr>
                <a:hlinkClick r:id="rId3"/>
                <a:latin typeface="Courier"/>
              </a:rPr>
              <a:t>docs/study/12-agentic/runtime-safety-functional-map.md</a:t>
            </a:r>
            <a:r>
              <a:rPr/>
              <a:t> et </a:t>
            </a:r>
            <a:r>
              <a:rPr>
                <a:hlinkClick r:id="rId4"/>
                <a:latin typeface="Courier"/>
              </a:rPr>
              <a:t>docs/study/07-mvp/agentic-mvp-addendum.md</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Identity And Business Autonomy</a:t>
            </a:r>
          </a:p>
        </p:txBody>
      </p:sp>
      <p:sp>
        <p:nvSpPr>
          <p:cNvPr id="3" name="Content Placeholder 2"/>
          <p:cNvSpPr>
            <a:spLocks noGrp="1"/>
          </p:cNvSpPr>
          <p:nvPr>
            <p:ph idx="1"/>
          </p:nvPr>
        </p:nvSpPr>
        <p:spPr/>
        <p:txBody>
          <a:bodyPr/>
          <a:lstStyle/>
          <a:p>
            <a:pPr lvl="0" indent="0" marL="0">
              <a:buNone/>
            </a:pPr>
            <a:r>
              <a:rPr/>
              <a:t>L’identite agentique repose sur Acting-As pour l’assistance en session, Service Principal pour les jobs planifies/event-driven et On-Behalf-Of pour les workflows delegues. Le detail est dans </a:t>
            </a:r>
            <a:r>
              <a:rPr>
                <a:hlinkClick r:id="rId2"/>
                <a:latin typeface="Courier"/>
              </a:rPr>
              <a:t>docs/study/12-agentic/identity-design-space.md</a:t>
            </a:r>
            <a:r>
              <a:rPr/>
              <a:t>.</a:t>
            </a:r>
          </a:p>
          <a:p>
            <a:pPr lvl="0" indent="0" marL="0">
              <a:buNone/>
            </a:pPr>
            <a:r>
              <a:rPr/>
              <a:t>L’autonomie business MVP commence par self-service catalog: discovery, selection/activation et configuration limitee. L’authoring reste post-MVP; voir </a:t>
            </a:r>
            <a:r>
              <a:rPr>
                <a:hlinkClick r:id="rId3"/>
                <a:latin typeface="Courier"/>
              </a:rPr>
              <a:t>docs/study/12-agentic/business-autonomy-design-space.md</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Marketplace Posture</a:t>
            </a:r>
          </a:p>
        </p:txBody>
      </p:sp>
      <p:sp>
        <p:nvSpPr>
          <p:cNvPr id="3" name="Content Placeholder 2"/>
          <p:cNvSpPr>
            <a:spLocks noGrp="1"/>
          </p:cNvSpPr>
          <p:nvPr>
            <p:ph idx="1"/>
          </p:nvPr>
        </p:nvSpPr>
        <p:spPr/>
        <p:txBody>
          <a:bodyPr/>
          <a:lstStyle/>
          <a:p>
            <a:pPr lvl="0" indent="0" marL="0">
              <a:buNone/>
            </a:pPr>
            <a:r>
              <a:rPr/>
              <a:t>Le MVP est limite a un niveau </a:t>
            </a:r>
            <a:r>
              <a:rPr b="1"/>
              <a:t>internal-governed private tier only</a:t>
            </a:r>
            <a:r>
              <a:rPr/>
              <a:t>: modules visibles dans le tenant, activation controlee, version tracee, revocation possible et audit d’activation.</a:t>
            </a:r>
          </a:p>
          <a:p>
            <a:pPr lvl="0" indent="0" marL="0">
              <a:buNone/>
            </a:pPr>
            <a:r>
              <a:rPr/>
              <a:t>La publication partenaire et la communaute publique restent post-MVP, avec exigences de signature, registre, provenance, revue, policy, sandbox et observabilite decrites dans </a:t>
            </a:r>
            <a:r>
              <a:rPr>
                <a:hlinkClick r:id="rId2"/>
                <a:latin typeface="Courier"/>
              </a:rPr>
              <a:t>docs/study/12-agentic/marketplace-design-space.md</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Runtime Safety And Supervision</a:t>
            </a:r>
          </a:p>
        </p:txBody>
      </p:sp>
      <p:sp>
        <p:nvSpPr>
          <p:cNvPr id="3" name="Content Placeholder 2"/>
          <p:cNvSpPr>
            <a:spLocks noGrp="1"/>
          </p:cNvSpPr>
          <p:nvPr>
            <p:ph idx="1"/>
          </p:nvPr>
        </p:nvSpPr>
        <p:spPr/>
        <p:txBody>
          <a:bodyPr/>
          <a:lstStyle/>
          <a:p>
            <a:pPr lvl="0" indent="0" marL="0">
              <a:buNone/>
            </a:pPr>
            <a:r>
              <a:rPr/>
              <a:t>Les primitives obligatoires sont policy engine, sandboxing, MCP interop, GenAI observability, secrets and credentials, budgets et human supervision. Elles sont cartographiees dans </a:t>
            </a:r>
            <a:r>
              <a:rPr>
                <a:hlinkClick r:id="rId2"/>
                <a:latin typeface="Courier"/>
              </a:rPr>
              <a:t>docs/study/12-agentic/runtime-safety-functional-map.md</a:t>
            </a:r>
            <a:r>
              <a:rPr/>
              <a:t>.</a:t>
            </a:r>
          </a:p>
          <a:p>
            <a:pPr lvl="0" indent="0" marL="0">
              <a:buNone/>
            </a:pPr>
            <a:r>
              <a:rPr/>
              <a:t>La supervision combine approval-in-the-loop, canary mini-modules, typed checkpoints, escalation rules et exigences bilingues FR/EN. Le detail est dans </a:t>
            </a:r>
            <a:r>
              <a:rPr>
                <a:hlinkClick r:id="rId3"/>
                <a:latin typeface="Courier"/>
              </a:rPr>
              <a:t>docs/study/12-agentic/human-supervision-design-space.md</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Deep Research Summary</a:t>
            </a:r>
          </a:p>
        </p:txBody>
      </p:sp>
      <p:sp>
        <p:nvSpPr>
          <p:cNvPr id="3" name="Content Placeholder 2"/>
          <p:cNvSpPr>
            <a:spLocks noGrp="1"/>
          </p:cNvSpPr>
          <p:nvPr>
            <p:ph idx="1"/>
          </p:nvPr>
        </p:nvSpPr>
        <p:spPr/>
        <p:txBody>
          <a:bodyPr/>
          <a:lstStyle/>
          <a:p>
            <a:pPr lvl="0" indent="0" marL="0">
              <a:buNone/>
            </a:pPr>
            <a:r>
              <a:rPr/>
              <a:t>La recherche agentique couvre le corpus open source, les references proprietaires datees, les startups et produits recents, les cas d’usage metier, MCP, observabilite, policy et sandbox. Les syntheses sources sont dans </a:t>
            </a:r>
            <a:r>
              <a:rPr>
                <a:hlinkClick r:id="rId2"/>
                <a:latin typeface="Courier"/>
              </a:rPr>
              <a:t>docs/study/01-corpus/agentic-corpus-report.md</a:t>
            </a:r>
            <a:r>
              <a:rPr/>
              <a:t>, </a:t>
            </a:r>
            <a:r>
              <a:rPr>
                <a:hlinkClick r:id="rId3"/>
                <a:latin typeface="Courier"/>
              </a:rPr>
              <a:t>docs/study/04-proprietary-references/agentic-references.md</a:t>
            </a:r>
            <a:r>
              <a:rPr/>
              <a:t> et </a:t>
            </a:r>
            <a:r>
              <a:rPr>
                <a:hlinkClick r:id="rId4"/>
                <a:latin typeface="Courier"/>
              </a:rPr>
              <a:t>docs/study/12-agentic/startups-deep-research.md</a:t>
            </a:r>
            <a:r>
              <a:rPr/>
              <a:t>.</a:t>
            </a:r>
          </a:p>
          <a:p>
            <a:pPr lvl="0" indent="0" marL="0">
              <a:buNone/>
            </a:pPr>
            <a:r>
              <a:rPr/>
              <a:t>Les references proprietaires et source-available restent benchmarks publics ou references fonctionnelles. Les projets permissifs peuvent informer l’architecture avec notices et attribution si une decision technique de reuse est prise.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License And Anti-Copy</a:t>
            </a:r>
          </a:p>
        </p:txBody>
      </p:sp>
      <p:sp>
        <p:nvSpPr>
          <p:cNvPr id="3" name="Content Placeholder 2"/>
          <p:cNvSpPr>
            <a:spLocks noGrp="1"/>
          </p:cNvSpPr>
          <p:nvPr>
            <p:ph idx="1"/>
          </p:nvPr>
        </p:nvSpPr>
        <p:spPr/>
        <p:txBody>
          <a:bodyPr/>
          <a:lstStyle/>
          <a:p>
            <a:pPr lvl="0" indent="0" marL="0">
              <a:buNone/>
            </a:pPr>
            <a:r>
              <a:rPr/>
              <a:t>La cible produit reste MIT. </a:t>
            </a:r>
            <a:r>
              <a:rPr>
                <a:latin typeface="Courier"/>
              </a:rPr>
              <a:t>@sentropic</a:t>
            </a:r>
            <a:r>
              <a:rPr/>
              <a:t> est l’ancre runtime, mais sa restriction commerciale custom doit etre resolue avant de le traiter comme distribution MIT ordinaire; voir </a:t>
            </a:r>
            <a:r>
              <a:rPr>
                <a:hlinkClick r:id="rId2"/>
                <a:latin typeface="Courier"/>
              </a:rPr>
              <a:t>docs/study/12-agentic/license-posture.md</a:t>
            </a:r>
            <a:r>
              <a:rPr/>
              <a:t>.</a:t>
            </a:r>
          </a:p>
          <a:p>
            <a:pPr lvl="0" indent="0" marL="0">
              <a:buNone/>
            </a:pPr>
            <a:r>
              <a:rPr/>
              <a:t>Les surfaces agentiques les plus sensibles sont prompts, personas, tool schemas, workflow definitions, eval datasets, demos, marketplace UI, agent catalog/configuration/builder UI, policy DSL syntax, sandbox config et MCP server schemas. Les controles sont dans </a:t>
            </a:r>
            <a:r>
              <a:rPr>
                <a:hlinkClick r:id="rId3"/>
                <a:latin typeface="Courier"/>
              </a:rPr>
              <a:t>docs/study/08-anti-copy/agentic-anti-copy-addendum.md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Agentic MVP Recommendation</a:t>
            </a:r>
          </a:p>
        </p:txBody>
      </p:sp>
      <p:sp>
        <p:nvSpPr>
          <p:cNvPr id="3" name="Content Placeholder 2"/>
          <p:cNvSpPr>
            <a:spLocks noGrp="1"/>
          </p:cNvSpPr>
          <p:nvPr>
            <p:ph idx="1"/>
          </p:nvPr>
        </p:nvSpPr>
        <p:spPr/>
        <p:txBody>
          <a:bodyPr/>
          <a:lstStyle/>
          <a:p>
            <a:pPr lvl="0" indent="0" marL="0">
              <a:buNone/>
            </a:pPr>
            <a:r>
              <a:rPr/>
              <a:t>Ajouter au MVP seulement des agents supervises, bornes a des objets OpenERP et relies aux workflows existants: qualification lead, suivi client, classification de temps, coaching projet, preparation de facture, relance preparee, rapprochement AR, triage AP, synthese reporting et decision object-bound.</a:t>
            </a:r>
          </a:p>
          <a:p>
            <a:pPr lvl="0" indent="0" marL="0">
              <a:buNone/>
            </a:pPr>
            <a:r>
              <a:rPr/>
              <a:t>Les impacts sur les specs MVP existantes sont centralises dans </a:t>
            </a:r>
            <a:r>
              <a:rPr>
                <a:hlinkClick r:id="rId2"/>
                <a:latin typeface="Courier"/>
              </a:rPr>
              <a:t>docs/study/10-mvp-specs/agentic-impacts.md</a:t>
            </a:r>
            <a:r>
              <a:rPr/>
              <a:t>. L’ordre de construction reste foundation/security/i18n d’abord, puis CRM, projet/time-to-invoice, billing/accounting, reporting/automation, collaboration objet et agents supervises.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Recommandation MVP</a:t>
            </a:r>
          </a:p>
        </p:txBody>
      </p:sp>
      <p:sp>
        <p:nvSpPr>
          <p:cNvPr id="3" name="Content Placeholder 2"/>
          <p:cNvSpPr>
            <a:spLocks noGrp="1"/>
          </p:cNvSpPr>
          <p:nvPr>
            <p:ph idx="1"/>
          </p:nvPr>
        </p:nvSpPr>
        <p:spPr/>
        <p:txBody>
          <a:bodyPr/>
          <a:lstStyle/>
          <a:p>
            <a:pPr lvl="0" indent="0" marL="0">
              <a:buNone/>
            </a:pPr>
            <a:r>
              <a:rPr/>
              <a:t>Construire en premier:</a:t>
            </a:r>
          </a:p>
          <a:p>
            <a:pPr lvl="0"/>
            <a:r>
              <a:rPr/>
              <a:t>foundation: tenants, users, roles, permissions, audit, FR/EN, settings, files, notifications;</a:t>
            </a:r>
          </a:p>
          <a:p>
            <a:pPr lvl="0"/>
            <a:r>
              <a:rPr/>
              <a:t>CRM: companies, contacts, leads, opportunities, activities, customer timeline, imports;</a:t>
            </a:r>
          </a:p>
          <a:p>
            <a:pPr lvl="0"/>
            <a:r>
              <a:rPr/>
              <a:t>project/time-to-invoice: projects, tasks, assignments, time entries, approvals, invoice proposals;</a:t>
            </a:r>
          </a:p>
          <a:p>
            <a:pPr lvl="0"/>
            <a:r>
              <a:rPr/>
              <a:t>billing/accounting: invoices, recurring schedules, payments, journal entries, tax abstraction, period close basics;</a:t>
            </a:r>
          </a:p>
          <a:p>
            <a:pPr lvl="0"/>
            <a:r>
              <a:rPr/>
              <a:t>reporting/automation: saved views, operational reports, dashboards, exports, scheduled delivery, typed workflows and webhooks;</a:t>
            </a:r>
          </a:p>
          <a:p>
            <a:pPr lvl="0"/>
            <a:r>
              <a:rPr/>
              <a:t>collaboration objet: comments, mentions, files, decisions, approvals, lightweight tasks, pages, notifications and permission-aware search;</a:t>
            </a:r>
          </a:p>
          <a:p>
            <a:pPr lvl="0"/>
            <a:r>
              <a:rPr/>
              <a:t>agents supervises: lead qualification, follow-up, timesheet classification, project status coaching, invoice preparation, dunning preparation, AR/AP assistance, reporting summaries and object-bound decision summaries;</a:t>
            </a:r>
          </a:p>
          <a:p>
            <a:pPr lvl="0"/>
            <a:r>
              <a:rPr/>
              <a:t>deployment: SaaS first, self-hosted Kubernetes supported from the beginning.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Hors MVP Explicite</a:t>
            </a:r>
          </a:p>
        </p:txBody>
      </p:sp>
      <p:sp>
        <p:nvSpPr>
          <p:cNvPr id="3" name="Content Placeholder 2"/>
          <p:cNvSpPr>
            <a:spLocks noGrp="1"/>
          </p:cNvSpPr>
          <p:nvPr>
            <p:ph idx="1"/>
          </p:nvPr>
        </p:nvSpPr>
        <p:spPr/>
        <p:txBody>
          <a:bodyPr/>
          <a:lstStyle/>
          <a:p>
            <a:pPr lvl="0"/>
            <a:r>
              <a:rPr/>
              <a:t>Native Quebec/Canada payroll engine.</a:t>
            </a:r>
          </a:p>
          <a:p>
            <a:pPr lvl="0"/>
            <a:r>
              <a:rPr/>
              <a:t>Native statutory filing and remittance submission.</a:t>
            </a:r>
          </a:p>
          <a:p>
            <a:pPr lvl="0"/>
            <a:r>
              <a:rPr/>
              <a:t>Full MES/shop-floor execution.</a:t>
            </a:r>
          </a:p>
          <a:p>
            <a:pPr lvl="0"/>
            <a:r>
              <a:rPr/>
              <a:t>Deep WMS/barcoding.</a:t>
            </a:r>
          </a:p>
          <a:p>
            <a:pPr lvl="0"/>
            <a:r>
              <a:rPr/>
              <a:t>Superset clone or advanced BI authoring.</a:t>
            </a:r>
          </a:p>
          <a:p>
            <a:pPr lvl="0"/>
            <a:r>
              <a:rPr/>
              <a:t>Node-RED clone or generic visual programming runtime.</a:t>
            </a:r>
          </a:p>
          <a:p>
            <a:pPr lvl="0"/>
            <a:r>
              <a:rPr/>
              <a:t>Full Kill Bill/OpenMeter-class subscription and usage engine.</a:t>
            </a:r>
          </a:p>
          <a:p>
            <a:pPr lvl="0"/>
            <a:r>
              <a:rPr/>
              <a:t>Generic Notion/ClickUp/Slack/Airtable clone.</a:t>
            </a:r>
          </a:p>
          <a:p>
            <a:pPr lvl="0"/>
            <a:r>
              <a:rPr/>
              <a:t>Generic company chat, whiteboard, bot marketplace or no-code workspace builder.</a:t>
            </a:r>
          </a:p>
          <a:p>
            <a:pPr lvl="0"/>
            <a:r>
              <a:rPr/>
              <a:t>Agent builder generaliste, marketplace partenaire/communautaire, agents autonomes a large portee et agents vertical packs.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Canada Et Quebec</a:t>
            </a:r>
          </a:p>
        </p:txBody>
      </p:sp>
      <p:sp>
        <p:nvSpPr>
          <p:cNvPr id="3" name="Content Placeholder 2"/>
          <p:cNvSpPr>
            <a:spLocks noGrp="1"/>
          </p:cNvSpPr>
          <p:nvPr>
            <p:ph idx="1"/>
          </p:nvPr>
        </p:nvSpPr>
        <p:spPr/>
        <p:txBody>
          <a:bodyPr/>
          <a:lstStyle/>
          <a:p>
            <a:pPr lvl="0" indent="0" marL="0">
              <a:buNone/>
            </a:pPr>
            <a:r>
              <a:rPr/>
              <a:t>La paie native doit rester hors MVP. Les sources officielles confirment que le produit doit d’abord fournir:</a:t>
            </a:r>
          </a:p>
          <a:p>
            <a:pPr lvl="0"/>
            <a:r>
              <a:rPr/>
              <a:t>payroll-prep exports;</a:t>
            </a:r>
          </a:p>
          <a:p>
            <a:pPr lvl="0"/>
            <a:r>
              <a:rPr/>
              <a:t>pay-period primitives;</a:t>
            </a:r>
          </a:p>
          <a:p>
            <a:pPr lvl="0"/>
            <a:r>
              <a:rPr/>
              <a:t>employee/time data usable by external payroll;</a:t>
            </a:r>
          </a:p>
          <a:p>
            <a:pPr lvl="0"/>
            <a:r>
              <a:rPr/>
              <a:t>GST/HST/QST registration and invoice tax disclosure fields;</a:t>
            </a:r>
          </a:p>
          <a:p>
            <a:pPr lvl="0"/>
            <a:r>
              <a:rPr/>
              <a:t>accounting tax liability accounts;</a:t>
            </a:r>
          </a:p>
          <a:p>
            <a:pPr lvl="0"/>
            <a:r>
              <a:rPr/>
              <a:t>future versioned statutory rule packs.</a:t>
            </a:r>
          </a:p>
          <a:p>
            <a:pPr lvl="0" indent="0" marL="0">
              <a:buNone/>
            </a:pPr>
            <a:r>
              <a:rPr/>
              <a:t>Native payroll cannot start until formulas, rates, effective dates, remittance calendars, slips, test fixtures and review process are versioned.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Et Anti-Copy</a:t>
            </a:r>
          </a:p>
        </p:txBody>
      </p:sp>
      <p:sp>
        <p:nvSpPr>
          <p:cNvPr id="3" name="Content Placeholder 2"/>
          <p:cNvSpPr>
            <a:spLocks noGrp="1"/>
          </p:cNvSpPr>
          <p:nvPr>
            <p:ph idx="1"/>
          </p:nvPr>
        </p:nvSpPr>
        <p:spPr/>
        <p:txBody>
          <a:bodyPr/>
          <a:lstStyle/>
          <a:p>
            <a:pPr lvl="0" indent="0" marL="0">
              <a:buNone/>
            </a:pPr>
            <a:r>
              <a:rPr/>
              <a:t>Target: MIT.</a:t>
            </a:r>
          </a:p>
          <a:p>
            <a:pPr lvl="0" indent="0" marL="0">
              <a:buNone/>
            </a:pPr>
            <a:r>
              <a:rPr/>
              <a:t>Posture:</a:t>
            </a:r>
          </a:p>
          <a:p>
            <a:pPr lvl="0"/>
            <a:r>
              <a:rPr/>
              <a:t>MIT/Apache/BSD: usable with attribution/notice tracking, but original implementation remains preferred;</a:t>
            </a:r>
          </a:p>
          <a:p>
            <a:pPr lvl="0"/>
            <a:r>
              <a:rPr/>
              <a:t>LGPL/MPL/EPL: cautious, review before technical reuse;</a:t>
            </a:r>
          </a:p>
          <a:p>
            <a:pPr lvl="0"/>
            <a:r>
              <a:rPr/>
              <a:t>GPL/AGPL: functional reference only;</a:t>
            </a:r>
          </a:p>
          <a:p>
            <a:pPr lvl="0"/>
            <a:r>
              <a:rPr/>
              <a:t>proprietary: public benchmark only.</a:t>
            </a:r>
          </a:p>
          <a:p>
            <a:pPr lvl="0" indent="0" marL="0">
              <a:buNone/>
            </a:pPr>
            <a:r>
              <a:rPr/>
              <a:t>Implementation must start from OpenERP specs, not source files from studied products. Do not copy code, UI text, docs, assets, tests, demo data, internal names, schemas, API shapes, reports, templates or workflow structures.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Architecture Cible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Direction</a:t>
                      </a:r>
                    </a:p>
                  </a:txBody>
                  <a:tcPr/>
                </a:tc>
              </a:tr>
              <a:tr h="0">
                <a:tc>
                  <a:txBody>
                    <a:bodyPr/>
                    <a:lstStyle/>
                    <a:p>
                      <a:pPr lvl="0" indent="0" marL="0">
                        <a:buNone/>
                      </a:pPr>
                      <a:r>
                        <a:rPr/>
                        <a:t>Frontend</a:t>
                      </a:r>
                    </a:p>
                  </a:txBody>
                </a:tc>
                <a:tc>
                  <a:txBody>
                    <a:bodyPr/>
                    <a:lstStyle/>
                    <a:p>
                      <a:pPr lvl="0" indent="0" marL="0">
                        <a:buNone/>
                      </a:pPr>
                      <a:r>
                        <a:rPr/>
                        <a:t>Svelte + TypeScript, dense operational UI, FR/EN from first sprint.</a:t>
                      </a:r>
                    </a:p>
                  </a:txBody>
                </a:tc>
              </a:tr>
              <a:tr h="0">
                <a:tc>
                  <a:txBody>
                    <a:bodyPr/>
                    <a:lstStyle/>
                    <a:p>
                      <a:pPr lvl="0" indent="0" marL="0">
                        <a:buNone/>
                      </a:pPr>
                      <a:r>
                        <a:rPr/>
                        <a:t>Backend</a:t>
                      </a:r>
                    </a:p>
                  </a:txBody>
                </a:tc>
                <a:tc>
                  <a:txBody>
                    <a:bodyPr/>
                    <a:lstStyle/>
                    <a:p>
                      <a:pPr lvl="0" indent="0" marL="0">
                        <a:buNone/>
                      </a:pPr>
                      <a:r>
                        <a:rPr/>
                        <a:t>TypeScript domain services and APIs.</a:t>
                      </a:r>
                    </a:p>
                  </a:txBody>
                </a:tc>
              </a:tr>
              <a:tr h="0">
                <a:tc>
                  <a:txBody>
                    <a:bodyPr/>
                    <a:lstStyle/>
                    <a:p>
                      <a:pPr lvl="0" indent="0" marL="0">
                        <a:buNone/>
                      </a:pPr>
                      <a:r>
                        <a:rPr/>
                        <a:t>Rust</a:t>
                      </a:r>
                    </a:p>
                  </a:txBody>
                </a:tc>
                <a:tc>
                  <a:txBody>
                    <a:bodyPr/>
                    <a:lstStyle/>
                    <a:p>
                      <a:pPr lvl="0" indent="0" marL="0">
                        <a:buNone/>
                      </a:pPr>
                      <a:r>
                        <a:rPr/>
                        <a:t>Optional for high-integrity workers: import validation, exports, ledger checks, planning engines.</a:t>
                      </a:r>
                    </a:p>
                  </a:txBody>
                </a:tc>
              </a:tr>
              <a:tr h="0">
                <a:tc>
                  <a:txBody>
                    <a:bodyPr/>
                    <a:lstStyle/>
                    <a:p>
                      <a:pPr lvl="0" indent="0" marL="0">
                        <a:buNone/>
                      </a:pPr>
                      <a:r>
                        <a:rPr/>
                        <a:t>Data</a:t>
                      </a:r>
                    </a:p>
                  </a:txBody>
                </a:tc>
                <a:tc>
                  <a:txBody>
                    <a:bodyPr/>
                    <a:lstStyle/>
                    <a:p>
                      <a:pPr lvl="0" indent="0" marL="0">
                        <a:buNone/>
                      </a:pPr>
                      <a:r>
                        <a:rPr/>
                        <a:t>PostgreSQL first, explicit tenant isolation.</a:t>
                      </a:r>
                    </a:p>
                  </a:txBody>
                </a:tc>
              </a:tr>
              <a:tr h="0">
                <a:tc>
                  <a:txBody>
                    <a:bodyPr/>
                    <a:lstStyle/>
                    <a:p>
                      <a:pPr lvl="0" indent="0" marL="0">
                        <a:buNone/>
                      </a:pPr>
                      <a:r>
                        <a:rPr/>
                        <a:t>Events</a:t>
                      </a:r>
                    </a:p>
                  </a:txBody>
                </a:tc>
                <a:tc>
                  <a:txBody>
                    <a:bodyPr/>
                    <a:lstStyle/>
                    <a:p>
                      <a:pPr lvl="0" indent="0" marL="0">
                        <a:buNone/>
                      </a:pPr>
                      <a:r>
                        <a:rPr/>
                        <a:t>Domain events for audit, automation, reporting refresh and integrations.</a:t>
                      </a:r>
                    </a:p>
                  </a:txBody>
                </a:tc>
              </a:tr>
              <a:tr h="0">
                <a:tc>
                  <a:txBody>
                    <a:bodyPr/>
                    <a:lstStyle/>
                    <a:p>
                      <a:pPr lvl="0" indent="0" marL="0">
                        <a:buNone/>
                      </a:pPr>
                      <a:r>
                        <a:rPr/>
                        <a:t>Workers</a:t>
                      </a:r>
                    </a:p>
                  </a:txBody>
                </a:tc>
                <a:tc>
                  <a:txBody>
                    <a:bodyPr/>
                    <a:lstStyle/>
                    <a:p>
                      <a:pPr lvl="0" indent="0" marL="0">
                        <a:buNone/>
                      </a:pPr>
                      <a:r>
                        <a:rPr/>
                        <a:t>Billing, imports, exports, notifications, reporting, automation.</a:t>
                      </a:r>
                    </a:p>
                  </a:txBody>
                </a:tc>
              </a:tr>
              <a:tr h="0">
                <a:tc>
                  <a:txBody>
                    <a:bodyPr/>
                    <a:lstStyle/>
                    <a:p>
                      <a:pPr lvl="0" indent="0" marL="0">
                        <a:buNone/>
                      </a:pPr>
                      <a:r>
                        <a:rPr/>
                        <a:t>Deployment</a:t>
                      </a:r>
                    </a:p>
                  </a:txBody>
                </a:tc>
                <a:tc>
                  <a:txBody>
                    <a:bodyPr/>
                    <a:lstStyle/>
                    <a:p>
                      <a:pPr lvl="0" indent="0" marL="0">
                        <a:buNone/>
                      </a:pPr>
                      <a:r>
                        <a:rPr/>
                        <a:t>SaaS plus self-hosted Kubernetes.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Self-Hosted Update Policy</a:t>
            </a:r>
          </a:p>
        </p:txBody>
      </p:sp>
      <p:sp>
        <p:nvSpPr>
          <p:cNvPr id="3" name="Content Placeholder 2"/>
          <p:cNvSpPr>
            <a:spLocks noGrp="1"/>
          </p:cNvSpPr>
          <p:nvPr>
            <p:ph idx="1"/>
          </p:nvPr>
        </p:nvSpPr>
        <p:spPr/>
        <p:txBody>
          <a:bodyPr/>
          <a:lstStyle/>
          <a:p>
            <a:pPr lvl="0" indent="0" marL="0">
              <a:buNone/>
            </a:pPr>
            <a:r>
              <a:rPr/>
              <a:t>The self-hosted model follows the user-approved policy:</a:t>
            </a:r>
          </a:p>
          <a:p>
            <a:pPr lvl="0"/>
            <a:r>
              <a:rPr/>
              <a:t>under 12 months behind current supported version: normal support;</a:t>
            </a:r>
          </a:p>
          <a:p>
            <a:pPr lvl="0"/>
            <a:r>
              <a:rPr/>
              <a:t>12-24 months behind: guided catch-up;</a:t>
            </a:r>
          </a:p>
          <a:p>
            <a:pPr lvl="0"/>
            <a:r>
              <a:rPr/>
              <a:t>over 24 months behind: unsupported or exceptional support.</a:t>
            </a:r>
          </a:p>
          <a:p>
            <a:pPr lvl="0" indent="0" marL="0">
              <a:buNone/>
            </a:pPr>
            <a:r>
              <a:rPr/>
              <a:t>The product must expose version state, preflight checks, backup requirement, migration path and bilingual release notes.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Livrables Principaux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Artifact</a:t>
                      </a:r>
                    </a:p>
                  </a:txBody>
                  <a:tcPr/>
                </a:tc>
                <a:tc>
                  <a:txBody>
                    <a:bodyPr/>
                    <a:lstStyle/>
                    <a:p>
                      <a:pPr lvl="0" indent="0" marL="0">
                        <a:buNone/>
                      </a:pPr>
                      <a:r>
                        <a:rPr/>
                        <a:t>Path</a:t>
                      </a:r>
                    </a:p>
                  </a:txBody>
                  <a:tcPr/>
                </a:tc>
              </a:tr>
              <a:tr h="0">
                <a:tc>
                  <a:txBody>
                    <a:bodyPr/>
                    <a:lstStyle/>
                    <a:p>
                      <a:pPr lvl="0" indent="0" marL="0">
                        <a:buNone/>
                      </a:pPr>
                      <a:r>
                        <a:rPr/>
                        <a:t>Corpus</a:t>
                      </a:r>
                    </a:p>
                  </a:txBody>
                </a:tc>
                <a:tc>
                  <a:txBody>
                    <a:bodyPr/>
                    <a:lstStyle/>
                    <a:p>
                      <a:pPr lvl="0" indent="0" marL="0">
                        <a:buNone/>
                      </a:pPr>
                      <a:r>
                        <a:rPr>
                          <a:latin typeface="Courier"/>
                        </a:rPr>
                        <a:t>docs/study/01-corpus/corpus-report.md</a:t>
                      </a:r>
                    </a:p>
                  </a:txBody>
                </a:tc>
              </a:tr>
              <a:tr h="0">
                <a:tc>
                  <a:txBody>
                    <a:bodyPr/>
                    <a:lstStyle/>
                    <a:p>
                      <a:pPr lvl="0" indent="0" marL="0">
                        <a:buNone/>
                      </a:pPr>
                      <a:r>
                        <a:rPr/>
                        <a:t>Shortlist</a:t>
                      </a:r>
                    </a:p>
                  </a:txBody>
                </a:tc>
                <a:tc>
                  <a:txBody>
                    <a:bodyPr/>
                    <a:lstStyle/>
                    <a:p>
                      <a:pPr lvl="0" indent="0" marL="0">
                        <a:buNone/>
                      </a:pPr>
                      <a:r>
                        <a:rPr>
                          <a:latin typeface="Courier"/>
                        </a:rPr>
                        <a:t>docs/study/03-shortlist/shortlist.md</a:t>
                      </a:r>
                    </a:p>
                  </a:txBody>
                </a:tc>
              </a:tr>
              <a:tr h="0">
                <a:tc>
                  <a:txBody>
                    <a:bodyPr/>
                    <a:lstStyle/>
                    <a:p>
                      <a:pPr lvl="0" indent="0" marL="0">
                        <a:buNone/>
                      </a:pPr>
                      <a:r>
                        <a:rPr/>
                        <a:t>Graphify dossier</a:t>
                      </a:r>
                    </a:p>
                  </a:txBody>
                </a:tc>
                <a:tc>
                  <a:txBody>
                    <a:bodyPr/>
                    <a:lstStyle/>
                    <a:p>
                      <a:pPr lvl="0" indent="0" marL="0">
                        <a:buNone/>
                      </a:pPr>
                      <a:r>
                        <a:rPr>
                          <a:latin typeface="Courier"/>
                        </a:rPr>
                        <a:t>docs/study/05-graphify/README.md</a:t>
                      </a:r>
                    </a:p>
                  </a:txBody>
                </a:tc>
              </a:tr>
              <a:tr h="0">
                <a:tc>
                  <a:txBody>
                    <a:bodyPr/>
                    <a:lstStyle/>
                    <a:p>
                      <a:pPr lvl="0" indent="0" marL="0">
                        <a:buNone/>
                      </a:pPr>
                      <a:r>
                        <a:rPr/>
                        <a:t>Functional map</a:t>
                      </a:r>
                    </a:p>
                  </a:txBody>
                </a:tc>
                <a:tc>
                  <a:txBody>
                    <a:bodyPr/>
                    <a:lstStyle/>
                    <a:p>
                      <a:pPr lvl="0" indent="0" marL="0">
                        <a:buNone/>
                      </a:pPr>
                      <a:r>
                        <a:rPr>
                          <a:latin typeface="Courier"/>
                        </a:rPr>
                        <a:t>docs/study/06-functional-map/global-functional-map.md</a:t>
                      </a:r>
                    </a:p>
                  </a:txBody>
                </a:tc>
              </a:tr>
              <a:tr h="0">
                <a:tc>
                  <a:txBody>
                    <a:bodyPr/>
                    <a:lstStyle/>
                    <a:p>
                      <a:pPr lvl="0" indent="0" marL="0">
                        <a:buNone/>
                      </a:pPr>
                      <a:r>
                        <a:rPr/>
                        <a:t>MVP recommendation</a:t>
                      </a:r>
                    </a:p>
                  </a:txBody>
                </a:tc>
                <a:tc>
                  <a:txBody>
                    <a:bodyPr/>
                    <a:lstStyle/>
                    <a:p>
                      <a:pPr lvl="0" indent="0" marL="0">
                        <a:buNone/>
                      </a:pPr>
                      <a:r>
                        <a:rPr>
                          <a:latin typeface="Courier"/>
                        </a:rPr>
                        <a:t>docs/study/07-mvp/mvp-recommendation.md</a:t>
                      </a:r>
                    </a:p>
                  </a:txBody>
                </a:tc>
              </a:tr>
              <a:tr h="0">
                <a:tc>
                  <a:txBody>
                    <a:bodyPr/>
                    <a:lstStyle/>
                    <a:p>
                      <a:pPr lvl="0" indent="0" marL="0">
                        <a:buNone/>
                      </a:pPr>
                      <a:r>
                        <a:rPr/>
                        <a:t>Collaboration MVP addendum</a:t>
                      </a:r>
                    </a:p>
                  </a:txBody>
                </a:tc>
                <a:tc>
                  <a:txBody>
                    <a:bodyPr/>
                    <a:lstStyle/>
                    <a:p>
                      <a:pPr lvl="0" indent="0" marL="0">
                        <a:buNone/>
                      </a:pPr>
                      <a:r>
                        <a:rPr>
                          <a:latin typeface="Courier"/>
                        </a:rPr>
                        <a:t>docs/study/07-mvp/collaboration-mvp-addendum.md</a:t>
                      </a:r>
                    </a:p>
                  </a:txBody>
                </a:tc>
              </a:tr>
              <a:tr h="0">
                <a:tc>
                  <a:txBody>
                    <a:bodyPr/>
                    <a:lstStyle/>
                    <a:p>
                      <a:pPr lvl="0" indent="0" marL="0">
                        <a:buNone/>
                      </a:pPr>
                      <a:r>
                        <a:rPr/>
                        <a:t>Anti-copy dossier</a:t>
                      </a:r>
                    </a:p>
                  </a:txBody>
                </a:tc>
                <a:tc>
                  <a:txBody>
                    <a:bodyPr/>
                    <a:lstStyle/>
                    <a:p>
                      <a:pPr lvl="0" indent="0" marL="0">
                        <a:buNone/>
                      </a:pPr>
                      <a:r>
                        <a:rPr>
                          <a:latin typeface="Courier"/>
                        </a:rPr>
                        <a:t>docs/study/08-anti-copy/anti-copy-dossier.md</a:t>
                      </a:r>
                    </a:p>
                  </a:txBody>
                </a:tc>
              </a:tr>
              <a:tr h="0">
                <a:tc>
                  <a:txBody>
                    <a:bodyPr/>
                    <a:lstStyle/>
                    <a:p>
                      <a:pPr lvl="0" indent="0" marL="0">
                        <a:buNone/>
                      </a:pPr>
                      <a:r>
                        <a:rPr/>
                        <a:t>Collaboration anti-copy addendum</a:t>
                      </a:r>
                    </a:p>
                  </a:txBody>
                </a:tc>
                <a:tc>
                  <a:txBody>
                    <a:bodyPr/>
                    <a:lstStyle/>
                    <a:p>
                      <a:pPr lvl="0" indent="0" marL="0">
                        <a:buNone/>
                      </a:pPr>
                      <a:r>
                        <a:rPr>
                          <a:latin typeface="Courier"/>
                        </a:rPr>
                        <a:t>docs/study/08-anti-copy/collaboration-anti-copy-addendum.md</a:t>
                      </a:r>
                    </a:p>
                  </a:txBody>
                </a:tc>
              </a:tr>
              <a:tr h="0">
                <a:tc>
                  <a:txBody>
                    <a:bodyPr/>
                    <a:lstStyle/>
                    <a:p>
                      <a:pPr lvl="0" indent="0" marL="0">
                        <a:buNone/>
                      </a:pPr>
                      <a:r>
                        <a:rPr/>
                        <a:t>Agentic MVP addendum</a:t>
                      </a:r>
                    </a:p>
                  </a:txBody>
                </a:tc>
                <a:tc>
                  <a:txBody>
                    <a:bodyPr/>
                    <a:lstStyle/>
                    <a:p>
                      <a:pPr lvl="0" indent="0" marL="0">
                        <a:buNone/>
                      </a:pPr>
                      <a:r>
                        <a:rPr>
                          <a:latin typeface="Courier"/>
                        </a:rPr>
                        <a:t>docs/study/07-mvp/agentic-mvp-addendum.md</a:t>
                      </a:r>
                    </a:p>
                  </a:txBody>
                </a:tc>
              </a:tr>
              <a:tr h="0">
                <a:tc>
                  <a:txBody>
                    <a:bodyPr/>
                    <a:lstStyle/>
                    <a:p>
                      <a:pPr lvl="0" indent="0" marL="0">
                        <a:buNone/>
                      </a:pPr>
                      <a:r>
                        <a:rPr/>
                        <a:t>Agentic anti-copy addendum</a:t>
                      </a:r>
                    </a:p>
                  </a:txBody>
                </a:tc>
                <a:tc>
                  <a:txBody>
                    <a:bodyPr/>
                    <a:lstStyle/>
                    <a:p>
                      <a:pPr lvl="0" indent="0" marL="0">
                        <a:buNone/>
                      </a:pPr>
                      <a:r>
                        <a:rPr>
                          <a:latin typeface="Courier"/>
                        </a:rPr>
                        <a:t>docs/study/08-anti-copy/agentic-anti-copy-addendum.md</a:t>
                      </a:r>
                    </a:p>
                  </a:txBody>
                </a:tc>
              </a:tr>
              <a:tr h="0">
                <a:tc>
                  <a:txBody>
                    <a:bodyPr/>
                    <a:lstStyle/>
                    <a:p>
                      <a:pPr lvl="0" indent="0" marL="0">
                        <a:buNone/>
                      </a:pPr>
                      <a:r>
                        <a:rPr/>
                        <a:t>Agentic design space</a:t>
                      </a:r>
                    </a:p>
                  </a:txBody>
                </a:tc>
                <a:tc>
                  <a:txBody>
                    <a:bodyPr/>
                    <a:lstStyle/>
                    <a:p>
                      <a:pPr lvl="0" indent="0" marL="0">
                        <a:buNone/>
                      </a:pPr>
                      <a:r>
                        <a:rPr>
                          <a:latin typeface="Courier"/>
                        </a:rPr>
                        <a:t>docs/study/12-agentic/</a:t>
                      </a:r>
                    </a:p>
                  </a:txBody>
                </a:tc>
              </a:tr>
              <a:tr h="0">
                <a:tc>
                  <a:txBody>
                    <a:bodyPr/>
                    <a:lstStyle/>
                    <a:p>
                      <a:pPr lvl="0" indent="0" marL="0">
                        <a:buNone/>
                      </a:pPr>
                      <a:r>
                        <a:rPr/>
                        <a:t>Canada/Quebec research</a:t>
                      </a:r>
                    </a:p>
                  </a:txBody>
                </a:tc>
                <a:tc>
                  <a:txBody>
                    <a:bodyPr/>
                    <a:lstStyle/>
                    <a:p>
                      <a:pPr lvl="0" indent="0" marL="0">
                        <a:buNone/>
                      </a:pPr>
                      <a:r>
                        <a:rPr>
                          <a:latin typeface="Courier"/>
                        </a:rPr>
                        <a:t>docs/study/09-canada-quebec/statutory-research.md</a:t>
                      </a:r>
                    </a:p>
                  </a:txBody>
                </a:tc>
              </a:tr>
              <a:tr h="0">
                <a:tc>
                  <a:txBody>
                    <a:bodyPr/>
                    <a:lstStyle/>
                    <a:p>
                      <a:pPr lvl="0" indent="0" marL="0">
                        <a:buNone/>
                      </a:pPr>
                      <a:r>
                        <a:rPr/>
                        <a:t>MVP specs</a:t>
                      </a:r>
                    </a:p>
                  </a:txBody>
                </a:tc>
                <a:tc>
                  <a:txBody>
                    <a:bodyPr/>
                    <a:lstStyle/>
                    <a:p>
                      <a:pPr lvl="0" indent="0" marL="0">
                        <a:buNone/>
                      </a:pPr>
                      <a:r>
                        <a:rPr>
                          <a:latin typeface="Courier"/>
                        </a:rPr>
                        <a:t>docs/study/10-mvp-specs/</a:t>
                      </a:r>
                    </a:p>
                  </a:txBody>
                </a:tc>
              </a:tr>
              <a:tr h="0">
                <a:tc>
                  <a:txBody>
                    <a:bodyPr/>
                    <a:lstStyle/>
                    <a:p>
                      <a:pPr lvl="0" indent="0" marL="0">
                        <a:buNone/>
                      </a:pPr>
                      <a:r>
                        <a:rPr/>
                        <a:t>Decision pack (MD + PPTX)</a:t>
                      </a:r>
                    </a:p>
                  </a:txBody>
                </a:tc>
                <a:tc>
                  <a:txBody>
                    <a:bodyPr/>
                    <a:lstStyle/>
                    <a:p>
                      <a:pPr lvl="0" indent="0" marL="0">
                        <a:buNone/>
                      </a:pPr>
                      <a:r>
                        <a:rPr>
                          <a:latin typeface="Courier"/>
                        </a:rPr>
                        <a:t>docs/study/10-mvp-specs/decision-pack.md</a:t>
                      </a:r>
                      <a:r>
                        <a:rPr/>
                        <a:t> / </a:t>
                      </a:r>
                      <a:r>
                        <a:rPr>
                          <a:latin typeface="Courier"/>
                        </a:rPr>
                        <a:t>.pptx</a:t>
                      </a:r>
                    </a:p>
                  </a:txBody>
                </a:tc>
              </a:tr>
              <a:tr h="0">
                <a:tc>
                  <a:txBody>
                    <a:bodyPr/>
                    <a:lstStyle/>
                    <a:p>
                      <a:pPr lvl="0" indent="0" marL="0">
                        <a:buNone/>
                      </a:pPr>
                      <a:r>
                        <a:rPr/>
                        <a:t>Shared entities canon v1</a:t>
                      </a:r>
                    </a:p>
                  </a:txBody>
                </a:tc>
                <a:tc>
                  <a:txBody>
                    <a:bodyPr/>
                    <a:lstStyle/>
                    <a:p>
                      <a:pPr lvl="0" indent="0" marL="0">
                        <a:buNone/>
                      </a:pPr>
                      <a:r>
                        <a:rPr>
                          <a:latin typeface="Courier"/>
                        </a:rPr>
                        <a:t>docs/study/10-mvp-specs/shared-entities-v1.md</a:t>
                      </a:r>
                    </a:p>
                  </a:txBody>
                </a:tc>
              </a:tr>
              <a:tr h="0">
                <a:tc>
                  <a:txBody>
                    <a:bodyPr/>
                    <a:lstStyle/>
                    <a:p>
                      <a:pPr lvl="0" indent="0" marL="0">
                        <a:buNone/>
                      </a:pPr>
                      <a:r>
                        <a:rPr/>
                        <a:t>Charts Svelte veille</a:t>
                      </a:r>
                    </a:p>
                  </a:txBody>
                </a:tc>
                <a:tc>
                  <a:txBody>
                    <a:bodyPr/>
                    <a:lstStyle/>
                    <a:p>
                      <a:pPr lvl="0" indent="0" marL="0">
                        <a:buNone/>
                      </a:pPr>
                      <a:r>
                        <a:rPr>
                          <a:latin typeface="Courier"/>
                        </a:rPr>
                        <a:t>docs/study/10-mvp-specs/charts-svelte-watch.md</a:t>
                      </a:r>
                    </a:p>
                  </a:txBody>
                </a:tc>
              </a:tr>
              <a:tr h="0">
                <a:tc>
                  <a:txBody>
                    <a:bodyPr/>
                    <a:lstStyle/>
                    <a:p>
                      <a:pPr lvl="0" indent="0" marL="0">
                        <a:buNone/>
                      </a:pPr>
                      <a:r>
                        <a:rPr/>
                        <a:t>Foundation impl plan</a:t>
                      </a:r>
                    </a:p>
                  </a:txBody>
                </a:tc>
                <a:tc>
                  <a:txBody>
                    <a:bodyPr/>
                    <a:lstStyle/>
                    <a:p>
                      <a:pPr lvl="0" indent="0" marL="0">
                        <a:buNone/>
                      </a:pPr>
                      <a:r>
                        <a:rPr>
                          <a:latin typeface="Courier"/>
                        </a:rPr>
                        <a:t>docs/superpowers/plans/2026-05-14-foundation-implementation.md</a:t>
                      </a:r>
                    </a:p>
                  </a:txBody>
                </a:tc>
              </a:tr>
              <a:tr h="0">
                <a:tc>
                  <a:txBody>
                    <a:bodyPr/>
                    <a:lstStyle/>
                    <a:p>
                      <a:pPr lvl="0" indent="0" marL="0">
                        <a:buNone/>
                      </a:pPr>
                      <a:r>
                        <a:rPr/>
                        <a:t>NOTICE racine</a:t>
                      </a:r>
                    </a:p>
                  </a:txBody>
                </a:tc>
                <a:tc>
                  <a:txBody>
                    <a:bodyPr/>
                    <a:lstStyle/>
                    <a:p>
                      <a:pPr lvl="0" indent="0" marL="0">
                        <a:buNone/>
                      </a:pPr>
                      <a:r>
                        <a:rPr>
                          <a:latin typeface="Courier"/>
                        </a:rPr>
                        <a:t>NOTICE</a:t>
                      </a:r>
                    </a:p>
                  </a:txBody>
                </a:tc>
              </a:tr>
              <a:tr h="0">
                <a:tc>
                  <a:txBody>
                    <a:bodyPr/>
                    <a:lstStyle/>
                    <a:p>
                      <a:pPr lvl="0" indent="0" marL="0">
                        <a:buNone/>
                      </a:pPr>
                      <a:r>
                        <a:rPr/>
                        <a:t>Anti-copy CI script</a:t>
                      </a:r>
                    </a:p>
                  </a:txBody>
                </a:tc>
                <a:tc>
                  <a:txBody>
                    <a:bodyPr/>
                    <a:lstStyle/>
                    <a:p>
                      <a:pPr lvl="0" indent="0" marL="0">
                        <a:buNone/>
                      </a:pPr>
                      <a:r>
                        <a:rPr>
                          <a:latin typeface="Courier"/>
                        </a:rPr>
                        <a:t>tools/anti-copy-grep.sh</a:t>
                      </a:r>
                    </a:p>
                  </a:txBody>
                </a:tc>
              </a:tr>
              <a:tr h="0">
                <a:tc>
                  <a:txBody>
                    <a:bodyPr/>
                    <a:lstStyle/>
                    <a:p>
                      <a:pPr lvl="0" indent="0" marL="0">
                        <a:buNone/>
                      </a:pPr>
                      <a:r>
                        <a:rPr/>
                        <a:t>Final PPTX</a:t>
                      </a:r>
                    </a:p>
                  </a:txBody>
                </a:tc>
                <a:tc>
                  <a:txBody>
                    <a:bodyPr/>
                    <a:lstStyle/>
                    <a:p>
                      <a:pPr lvl="0" indent="0" marL="0">
                        <a:buNone/>
                      </a:pPr>
                      <a:r>
                        <a:rPr>
                          <a:latin typeface="Courier"/>
                        </a:rPr>
                        <a:t>docs/study/11-final-package/openerp-final-synthesis.pptx</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Decisions Prises 2026-05-14</a:t>
            </a:r>
          </a:p>
        </p:txBody>
      </p:sp>
      <p:sp>
        <p:nvSpPr>
          <p:cNvPr id="3" name="Content Placeholder 2"/>
          <p:cNvSpPr>
            <a:spLocks noGrp="1"/>
          </p:cNvSpPr>
          <p:nvPr>
            <p:ph idx="1"/>
          </p:nvPr>
        </p:nvSpPr>
        <p:spPr/>
        <p:txBody>
          <a:bodyPr/>
          <a:lstStyle/>
          <a:p>
            <a:pPr lvl="0" indent="0" marL="0">
              <a:buNone/>
            </a:pPr>
            <a:r>
              <a:rPr/>
              <a:t>Le decision-pack (</a:t>
            </a:r>
            <a:r>
              <a:rPr>
                <a:latin typeface="Courier"/>
              </a:rPr>
              <a:t>docs/study/10-mvp-specs/decision-pack.md</a:t>
            </a:r>
            <a:r>
              <a:rPr/>
              <a:t> + </a:t>
            </a:r>
            <a:r>
              <a:rPr>
                <a:latin typeface="Courier"/>
              </a:rPr>
              <a:t>.pptx</a:t>
            </a:r>
            <a:r>
              <a:rPr/>
              <a:t>) consolide 12 decisions programme arbitrees, toutes RESOLVED. Resumé :</a:t>
            </a:r>
          </a:p>
          <a:p>
            <a:pPr lvl="0" indent="-342900" marL="342900">
              <a:buAutoNum type="arabicPeriod"/>
            </a:pPr>
            <a:r>
              <a:rPr b="1"/>
              <a:t>PG-01 License @sentropic</a:t>
            </a:r>
            <a:r>
              <a:rPr/>
              <a:t> : plain MIT (resolved 2026-05-12 via rename @entropiq → @sentropic).</a:t>
            </a:r>
          </a:p>
          <a:p>
            <a:pPr lvl="0" indent="-342900" marL="342900">
              <a:buAutoNum type="arabicPeriod"/>
            </a:pPr>
            <a:r>
              <a:rPr b="1"/>
              <a:t>PG-02 Identite multi-tenant</a:t>
            </a:r>
            <a:r>
              <a:rPr/>
              <a:t> : </a:t>
            </a:r>
            <a:r>
              <a:rPr>
                <a:latin typeface="Courier"/>
              </a:rPr>
              <a:t>UserIdentity</a:t>
            </a:r>
            <a:r>
              <a:rPr/>
              <a:t> global + </a:t>
            </a:r>
            <a:r>
              <a:rPr>
                <a:latin typeface="Courier"/>
              </a:rPr>
              <a:t>OrganizationMember</a:t>
            </a:r>
            <a:r>
              <a:rPr/>
              <a:t> par tenant.</a:t>
            </a:r>
          </a:p>
          <a:p>
            <a:pPr lvl="0" indent="-342900" marL="342900">
              <a:buAutoNum type="arabicPeriod"/>
            </a:pPr>
            <a:r>
              <a:rPr b="1"/>
              <a:t>PG-03 Isolation multi-tenant</a:t>
            </a:r>
            <a:r>
              <a:rPr/>
              <a:t> : row-level RLS Postgres + abstraction </a:t>
            </a:r>
            <a:r>
              <a:rPr>
                <a:latin typeface="Courier"/>
              </a:rPr>
              <a:t>TenantIsolationStrategy</a:t>
            </a:r>
            <a:r>
              <a:rPr/>
              <a:t> switchable.</a:t>
            </a:r>
          </a:p>
          <a:p>
            <a:pPr lvl="0" indent="-342900" marL="342900">
              <a:buAutoNum type="arabicPeriod"/>
            </a:pPr>
            <a:r>
              <a:rPr b="1"/>
              <a:t>PG-04 Queue engine</a:t>
            </a:r>
            <a:r>
              <a:rPr/>
              <a:t> : pgmq MVP + interface </a:t>
            </a:r>
            <a:r>
              <a:rPr>
                <a:latin typeface="Courier"/>
              </a:rPr>
              <a:t>JobQueue</a:t>
            </a:r>
            <a:r>
              <a:rPr/>
              <a:t> abstraite.</a:t>
            </a:r>
          </a:p>
          <a:p>
            <a:pPr lvl="0" indent="-342900" marL="342900">
              <a:buAutoNum type="arabicPeriod"/>
            </a:pPr>
            <a:r>
              <a:rPr b="1"/>
              <a:t>PG-05 i18n catalogue</a:t>
            </a:r>
            <a:r>
              <a:rPr/>
              <a:t> : ICU JSON nested + table </a:t>
            </a:r>
            <a:r>
              <a:rPr>
                <a:latin typeface="Courier"/>
              </a:rPr>
              <a:t>TranslationKey</a:t>
            </a:r>
            <a:r>
              <a:rPr/>
              <a:t>.</a:t>
            </a:r>
          </a:p>
          <a:p>
            <a:pPr lvl="0" indent="-342900" marL="342900">
              <a:buAutoNum type="arabicPeriod"/>
            </a:pPr>
            <a:r>
              <a:rPr b="1"/>
              <a:t>PG-06 Canon entites partagees</a:t>
            </a:r>
            <a:r>
              <a:rPr/>
              <a:t> : 4 articles (Organization+Money, AuditEvent/DomainEvent/TimelineEntry, Activity prefixage, frontieres inter-modules).</a:t>
            </a:r>
          </a:p>
          <a:p>
            <a:pPr lvl="0" indent="-342900" marL="342900">
              <a:buAutoNum type="arabicPeriod"/>
            </a:pPr>
            <a:r>
              <a:rPr b="1"/>
              <a:t>PG-07 ApprovalRequest</a:t>
            </a:r>
            <a:r>
              <a:rPr/>
              <a:t> : entite foundation partagee, 3 surfaces (REST + MCP tool + SDK).</a:t>
            </a:r>
          </a:p>
          <a:p>
            <a:pPr lvl="0" indent="-342900" marL="342900">
              <a:buAutoNum type="arabicPeriod"/>
            </a:pPr>
            <a:r>
              <a:rPr b="1"/>
              <a:t>PG-08 Idempotency-Key universel</a:t>
            </a:r>
            <a:r>
              <a:rPr/>
              <a:t> : header obligatoire sur toute POST/DELETE side-effect.</a:t>
            </a:r>
          </a:p>
          <a:p>
            <a:pPr lvl="0" indent="-342900" marL="342900">
              <a:buAutoNum type="arabicPeriod"/>
            </a:pPr>
            <a:r>
              <a:rPr b="1"/>
              <a:t>PG-09 Identite agent</a:t>
            </a:r>
            <a:r>
              <a:rPr/>
              <a:t> : JWT + RFC 8693 token exchange MVP + SPIFFE post-MVP via abstraction </a:t>
            </a:r>
            <a:r>
              <a:rPr>
                <a:latin typeface="Courier"/>
              </a:rPr>
              <a:t>IdentityProvider</a:t>
            </a:r>
            <a:r>
              <a:rPr/>
              <a:t>.</a:t>
            </a:r>
          </a:p>
          <a:p>
            <a:pPr lvl="0" indent="-342900" marL="342900">
              <a:buAutoNum type="arabicPeriod"/>
            </a:pPr>
            <a:r>
              <a:rPr b="1"/>
              <a:t>PG-10 Stack BI</a:t>
            </a:r>
            <a:r>
              <a:rPr/>
              <a:t> : primitive foundation </a:t>
            </a:r>
            <a:r>
              <a:rPr>
                <a:latin typeface="Courier"/>
              </a:rPr>
              <a:t>Widget</a:t>
            </a:r>
            <a:r>
              <a:rPr/>
              <a:t>/</a:t>
            </a:r>
            <a:r>
              <a:rPr>
                <a:latin typeface="Courier"/>
              </a:rPr>
              <a:t>Dashboard</a:t>
            </a:r>
            <a:r>
              <a:rPr/>
              <a:t> native SvelteKit (LayerChart tete de classement veille).</a:t>
            </a:r>
          </a:p>
          <a:p>
            <a:pPr lvl="0" indent="-342900" marL="342900">
              <a:buAutoNum type="arabicPeriod"/>
            </a:pPr>
            <a:r>
              <a:rPr b="1"/>
              <a:t>PG-11 Templating</a:t>
            </a:r>
            <a:r>
              <a:rPr/>
              <a:t> : extraction </a:t>
            </a:r>
            <a:r>
              <a:rPr>
                <a:latin typeface="Courier"/>
              </a:rPr>
              <a:t>@sentropic/docx-templating</a:t>
            </a:r>
            <a:r>
              <a:rPr/>
              <a:t> + </a:t>
            </a:r>
            <a:r>
              <a:rPr>
                <a:latin typeface="Courier"/>
              </a:rPr>
              <a:t>@sentropic/pdf-templating</a:t>
            </a:r>
            <a:r>
              <a:rPr/>
              <a:t>.</a:t>
            </a:r>
          </a:p>
          <a:p>
            <a:pPr lvl="0" indent="-342900" marL="342900">
              <a:buAutoNum type="arabicPeriod"/>
            </a:pPr>
            <a:r>
              <a:rPr b="1"/>
              <a:t>PG-12 Anti-copy</a:t>
            </a:r>
            <a:r>
              <a:rPr/>
              <a:t> : owner par defaut = porteur produit + script CI </a:t>
            </a:r>
            <a:r>
              <a:rPr>
                <a:latin typeface="Courier"/>
              </a:rPr>
              <a:t>tools/anti-copy-grep.sh</a:t>
            </a:r>
            <a:r>
              <a:rPr/>
              <a:t>.</a:t>
            </a:r>
          </a:p>
          <a:p>
            <a:pPr lvl="0" indent="0" marL="0">
              <a:buNone/>
            </a:pPr>
            <a:r>
              <a:rPr/>
              <a:t>Decisions par spec (foundation, CRM, project, billing, reporting, agentic) gravees inline dans chaque spec MVP avec </a:t>
            </a:r>
            <a:r>
              <a:rPr>
                <a:latin typeface="Courier"/>
              </a:rPr>
              <a:t>status: RESOLVED, resolution: 2026-05-14, chosen: &lt;option&gt;</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Updated Next Step</a:t>
            </a:r>
          </a:p>
        </p:txBody>
      </p:sp>
      <p:sp>
        <p:nvSpPr>
          <p:cNvPr id="3" name="Content Placeholder 2"/>
          <p:cNvSpPr>
            <a:spLocks noGrp="1"/>
          </p:cNvSpPr>
          <p:nvPr>
            <p:ph idx="1"/>
          </p:nvPr>
        </p:nvSpPr>
        <p:spPr/>
        <p:txBody>
          <a:bodyPr/>
          <a:lstStyle/>
          <a:p>
            <a:pPr lvl="0" indent="0" marL="0">
              <a:buNone/>
            </a:pPr>
            <a:r>
              <a:rPr/>
              <a:t>Phase cadrage cloturee 2026-05-14. Le plan d’implementation foundation est publie dans </a:t>
            </a:r>
            <a:r>
              <a:rPr>
                <a:latin typeface="Courier"/>
              </a:rPr>
              <a:t>docs/superpowers/plans/2026-05-14-foundation-implementation.md</a:t>
            </a:r>
            <a:r>
              <a:rPr/>
              <a:t> (7 lots, dependances </a:t>
            </a:r>
            <a:r>
              <a:rPr>
                <a:latin typeface="Courier"/>
              </a:rPr>
              <a:t>@sentropic</a:t>
            </a:r>
            <a:r>
              <a:rPr/>
              <a:t> BR-26 tracees, exit criteria par lot).</a:t>
            </a:r>
          </a:p>
          <a:p>
            <a:pPr lvl="0" indent="0" marL="0">
              <a:buNone/>
            </a:pPr>
            <a:r>
              <a:rPr/>
              <a:t>Trajectoire :</a:t>
            </a:r>
          </a:p>
          <a:p>
            <a:pPr lvl="0" indent="-342900" marL="342900">
              <a:buAutoNum type="arabicPeriod"/>
            </a:pPr>
            <a:r>
              <a:rPr b="1"/>
              <a:t>Lot 0 — Workspace baseline</a:t>
            </a:r>
            <a:r>
              <a:rPr/>
              <a:t> : Node monorepo + SvelteKit shell + Postgres + pgmq + Vitest + Playwright + anti-copy CI.</a:t>
            </a:r>
          </a:p>
          <a:p>
            <a:pPr lvl="0" indent="-342900" marL="342900">
              <a:buAutoNum type="arabicPeriod"/>
            </a:pPr>
            <a:r>
              <a:rPr b="1"/>
              <a:t>Lot 1 — Identite &amp; multi-tenant</a:t>
            </a:r>
            <a:r>
              <a:rPr/>
              <a:t> : </a:t>
            </a:r>
            <a:r>
              <a:rPr>
                <a:latin typeface="Courier"/>
              </a:rPr>
              <a:t>UserIdentity</a:t>
            </a:r>
            <a:r>
              <a:rPr/>
              <a:t> + </a:t>
            </a:r>
            <a:r>
              <a:rPr>
                <a:latin typeface="Courier"/>
              </a:rPr>
              <a:t>OrganizationMember</a:t>
            </a:r>
            <a:r>
              <a:rPr/>
              <a:t> + RLS row-level.</a:t>
            </a:r>
          </a:p>
          <a:p>
            <a:pPr lvl="0" indent="-342900" marL="342900">
              <a:buAutoNum type="arabicPeriod"/>
            </a:pPr>
            <a:r>
              <a:rPr b="1"/>
              <a:t>Lot 2 — Auth + RBAC + i18n</a:t>
            </a:r>
            <a:r>
              <a:rPr/>
              <a:t> : passkey/WebAuthn direct + permissions objet-level + ICU JSON.</a:t>
            </a:r>
          </a:p>
          <a:p>
            <a:pPr lvl="0" indent="-342900" marL="342900">
              <a:buAutoNum type="arabicPeriod"/>
            </a:pPr>
            <a:r>
              <a:rPr b="1"/>
              <a:t>Lot 3 — Money + AuditEvent triple-layer</a:t>
            </a:r>
            <a:r>
              <a:rPr/>
              <a:t> : type </a:t>
            </a:r>
            <a:r>
              <a:rPr>
                <a:latin typeface="Courier"/>
              </a:rPr>
              <a:t>Money</a:t>
            </a:r>
            <a:r>
              <a:rPr/>
              <a:t> + </a:t>
            </a:r>
            <a:r>
              <a:rPr>
                <a:latin typeface="Courier"/>
              </a:rPr>
              <a:t>AuditEvent</a:t>
            </a:r>
            <a:r>
              <a:rPr/>
              <a:t>/</a:t>
            </a:r>
            <a:r>
              <a:rPr>
                <a:latin typeface="Courier"/>
              </a:rPr>
              <a:t>DomainEvent</a:t>
            </a:r>
            <a:r>
              <a:rPr/>
              <a:t>/</a:t>
            </a:r>
            <a:r>
              <a:rPr>
                <a:latin typeface="Courier"/>
              </a:rPr>
              <a:t>TimelineEntry</a:t>
            </a:r>
            <a:r>
              <a:rPr/>
              <a:t>.</a:t>
            </a:r>
          </a:p>
          <a:p>
            <a:pPr lvl="0" indent="-342900" marL="342900">
              <a:buAutoNum type="arabicPeriod"/>
            </a:pPr>
            <a:r>
              <a:rPr b="1"/>
              <a:t>Lot 4 — ApprovalRequest + Idempotency + JobQueue</a:t>
            </a:r>
            <a:r>
              <a:rPr/>
              <a:t> : entite partagee + middleware + pgmq impl.</a:t>
            </a:r>
          </a:p>
          <a:p>
            <a:pPr lvl="0" indent="-342900" marL="342900">
              <a:buAutoNum type="arabicPeriod"/>
            </a:pPr>
            <a:r>
              <a:rPr b="1"/>
              <a:t>Lot 5 — Integration </a:t>
            </a:r>
            <a:r>
              <a:rPr b="1">
                <a:latin typeface="Courier"/>
              </a:rPr>
              <a:t>@sentropic</a:t>
            </a:r>
            <a:r>
              <a:rPr/>
              <a:t> : consommer capabilities PR #151 (MCP, OTel, policy hooks, identity primitives) + AuditEvent etendu agentic.</a:t>
            </a:r>
          </a:p>
          <a:p>
            <a:pPr lvl="0" indent="-342900" marL="342900">
              <a:buAutoNum type="arabicPeriod"/>
            </a:pPr>
            <a:r>
              <a:rPr b="1"/>
              <a:t>Lot 6 — Foundation gate</a:t>
            </a:r>
            <a:r>
              <a:rPr/>
              <a:t> : suite tests + doc + handoff aux specs CRM/project/billing/reporting/agentic.</a:t>
            </a:r>
          </a:p>
          <a:p>
            <a:pPr lvl="0" indent="0" marL="0">
              <a:buNone/>
            </a:pPr>
            <a:r>
              <a:rPr/>
              <a:t>Le relais dev est pris par un autre agent (codex). Le porteur produit reste en supervision/audit.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2026-05-14T17:10:34Z</dcterms:created>
  <dcterms:modified xsi:type="dcterms:W3CDTF">2026-05-14T17:10:34Z</dcterms:modified>
</cp:coreProperties>
</file>

<file path=docProps/custom.xml><?xml version="1.0" encoding="utf-8"?>
<Properties xmlns="http://schemas.openxmlformats.org/officeDocument/2006/custom-properties" xmlns:vt="http://schemas.openxmlformats.org/officeDocument/2006/docPropsVTypes"/>
</file>