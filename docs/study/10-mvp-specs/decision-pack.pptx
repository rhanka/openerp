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9144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Calibri"/>
              </a:rPr>
              <a:t>MVP Decision Pack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E5E7EB"/>
                </a:solidFill>
                <a:latin typeface="Calibri"/>
              </a:rPr>
              <a:t>Sprint cadrage MVP OpenERP — synthèse arbitrage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97606"/>
                </a:solidFill>
                <a:latin typeface="Calibri"/>
              </a:rPr>
              <a:t>2026-05-14 · Toutes décisions programme RESOLVED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5E7EB"/>
                </a:solidFill>
                <a:latin typeface="Calibri"/>
              </a:rPr>
              <a:t>6 specs MVP enrichies · double revue Claude + codex · 12 décisions programme arbitrées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Statut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45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E5E7EB"/>
                </a:solidFill>
                <a:latin typeface="Calibri"/>
              </a:rPr>
              <a:t>MVP Decision Pack — 2026-05-14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1F3E"/>
                </a:solidFill>
                <a:latin typeface="Calibri"/>
              </a:rPr>
              <a:t>Statut du sprint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3794760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Fait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40280"/>
            <a:ext cx="3794760" cy="38404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• 6 specs MVP enrichies (+1675 lignes)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• Double revue Claude + codex (6800 mots)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• Rename @entropiq → @sentropic plain MIT (30 docs)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• 12 décisions programme arbitrées 2026-05-14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3776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• Décisions gravées dans 6 specs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737360"/>
            <a:ext cx="3794760" cy="50292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1737360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À faire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40280"/>
            <a:ext cx="3794760" cy="38404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237744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• PR @sentropic : MCP + OTel + policy hooks + identité + marketplace + sandbox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01752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• Création shared-entities-v1.md (canon PG-06)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365760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• NOTICE racine (Kill Bill, OpenMeter, Superset, Node-RED)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429768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• Script CI anti-copy (patterns expression seulement)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93776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• Foundation impl (RLS + RBAC + ICU + Money + ApprovalRequest)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1737360"/>
            <a:ext cx="3794760" cy="50292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1737360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Attendu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2240280"/>
            <a:ext cx="3794760" cy="38404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237744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• Spec foundation figée → premier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01752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• @sentropic PR ouverte, autre agent continue dev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65760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• Toi en supervision / audit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29768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• Pas de nouveau arbitrage requis avant feedback impl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Synthèse exécutive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45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E5E7EB"/>
                </a:solidFill>
                <a:latin typeface="Calibri"/>
              </a:rPr>
              <a:t>MVP Decision Pack — 2026-05-14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1F3E"/>
                </a:solidFill>
                <a:latin typeface="Calibri"/>
              </a:rPr>
              <a:t>Synthèse exécutive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Risque licence levé. 5 risques structurels persistants. 12 décisions programme.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59669"/>
                </a:solidFill>
                <a:latin typeface="Calibri"/>
              </a:rPr>
              <a:t>Risques traités par l'arbitrage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1.  Multi-tenant : UserIdentity + OrganizationMember adopté (PG-02)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2.  Queue : pgmq MVP + JobQueue abstrait pour migration (PG-04)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8328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3.  Activity : préfixage canon (CrmActivity, ProjectTask, ServiceActivity, AgentRun) (PG-06 art.3)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8620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4.  Events : 3 couches séparées AuditEvent / DomainEvent / TimelineEntry (PG-06 art.2)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8912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5.  Anti-copy : owner nommé + script CI tools/anti-copy-grep.sh (PG-12)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202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Décisions programme à arbitrer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3774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PG-01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23774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License @sentropic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881360" y="2359152"/>
            <a:ext cx="82296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7066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PG-02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270662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Identité multi-tenant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881360" y="2688336"/>
            <a:ext cx="82296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PG-03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30358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Isolation RLS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81360" y="3017520"/>
            <a:ext cx="82296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3649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PG-04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33649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Queue engine unifié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81360" y="3346704"/>
            <a:ext cx="82296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69417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PG-05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369417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Catalogue i18n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881360" y="3675888"/>
            <a:ext cx="82296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0233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PG-06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40233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Canon entités partagées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881360" y="4005072"/>
            <a:ext cx="82296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3525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PG-07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435254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ApprovalRequest entité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881360" y="4334256"/>
            <a:ext cx="82296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6817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PG-08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468172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Idempotency-Key universel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881360" y="4663440"/>
            <a:ext cx="82296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0109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PG-09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0" y="501091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Identité agent + délégation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881360" y="4992624"/>
            <a:ext cx="82296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PG-10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534009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Stack BI dashboard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881360" y="5321808"/>
            <a:ext cx="82296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6692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PG-11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0" y="56692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Stack templating (docx + pdf)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881360" y="5650992"/>
            <a:ext cx="82296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99846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PG-12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2320" y="599846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Anti-copy review process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881360" y="5980176"/>
            <a:ext cx="82296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Décisions programme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E5E7EB"/>
                </a:solidFill>
                <a:latin typeface="Calibri"/>
              </a:rPr>
              <a:t>12 décisions transverses · toutes arbitrées 2026-05-14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Décisions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45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E5E7EB"/>
                </a:solidFill>
                <a:latin typeface="Calibri"/>
              </a:rPr>
              <a:t>MVP Decision Pack — 2026-05-14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D97606"/>
                </a:solidFill>
                <a:latin typeface="Calibri"/>
              </a:rPr>
              <a:t>PG-01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7772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F3E"/>
                </a:solidFill>
                <a:latin typeface="Calibri"/>
              </a:rPr>
              <a:t>License @sentropic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98480" y="914400"/>
            <a:ext cx="82296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CONTEXTE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11247120" cy="8229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Calibri"/>
              </a:rPr>
              <a:t>Renommage @entropiq → @sentropic 2026-05-12, license simplifiée en plain MIT à toi-même. AGT-D-12 et AGT-D-13 résolus, plus de blocant commercial.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OPTIONS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858000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9184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9184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Plain MIT (adopté)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06908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MIT with Commercial Restrictions (rejeté)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Waiver écrit (non nécessaire)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2880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RECOMMANDATION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0" y="3200400"/>
            <a:ext cx="4114800" cy="246888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3337560"/>
            <a:ext cx="37490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Plain MIT adopté. Tout déploiement commercial OpenERP est juridiquement clear côté runtime.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8521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852160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Licence: aucun risque · Timeline: 0j · Action restante: sweep rename terminé (commit 54dede9)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Décisions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45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E5E7EB"/>
                </a:solidFill>
                <a:latin typeface="Calibri"/>
              </a:rPr>
              <a:t>MVP Decision Pack — 2026-05-14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D97606"/>
                </a:solidFill>
                <a:latin typeface="Calibri"/>
              </a:rPr>
              <a:t>PG-02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7772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F3E"/>
                </a:solidFill>
                <a:latin typeface="Calibri"/>
              </a:rPr>
              <a:t>Identité + membership multi-tenant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98480" y="914400"/>
            <a:ext cx="82296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CONTEXTE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11247120" cy="8229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Calibri"/>
              </a:rPr>
              <a:t>User.organization_id (foundation actuel) casse le multi-tenant quand un humain est membre de plusieurs orgs (consultants, partenaires).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OPTIONS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858000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9184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9184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UserIdentity global + OrganizationMember par tenant (codex reco)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06908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Rester User.organization_id mono-org MVP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Multi-org via table UserOrgLink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2880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RECOMMANDATION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0" y="3200400"/>
            <a:ext cx="4114800" cy="246888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3337560"/>
            <a:ext cx="37490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✓ Arbitré 2026-05-14 : option (a) UserIdentity + OrganizationMember. Multi-tenant dès MVP, refactor FK et JWT en conséquence.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8521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852160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Foundation P0 · Change toutes FK et tous JWT · Bloque tout schéma métier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Décisions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45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E5E7EB"/>
                </a:solidFill>
                <a:latin typeface="Calibri"/>
              </a:rPr>
              <a:t>MVP Decision Pack — 2026-05-14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D97606"/>
                </a:solidFill>
                <a:latin typeface="Calibri"/>
              </a:rPr>
              <a:t>PG-03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7772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F3E"/>
                </a:solidFill>
                <a:latin typeface="Calibri"/>
              </a:rPr>
              <a:t>Isolation multi-tenant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98480" y="914400"/>
            <a:ext cx="82296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CONTEXTE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11247120" cy="8229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Calibri"/>
              </a:rPr>
              <a:t>Foundation propose row-level organization_id + Postgres RLS. À acter formellement, bloque tous schémas et toutes migrations.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OPTIONS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858000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9184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9184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Row-level + Postgres RLS (foundation reco)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06908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Schema-per-tenant (migrations énormes)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DB-per-tenant (ops lourd MVP)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2880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RECOMMANDATION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0" y="3200400"/>
            <a:ext cx="4114800" cy="246888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3337560"/>
            <a:ext cx="37490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✓ Arbitré 2026-05-14 : (a) RLS row-level MVP, avec abstraction TenantIsolationStrategy supportant (a/b/c) dès le contrat foundation. Switch par config sans réécriture downstream.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8521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852160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Foundation P0 · Impacte toutes migrations · Reporting + Agentic dépendent de cette résolution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Décisions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45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E5E7EB"/>
                </a:solidFill>
                <a:latin typeface="Calibri"/>
              </a:rPr>
              <a:t>MVP Decision Pack — 2026-05-14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D97606"/>
                </a:solidFill>
                <a:latin typeface="Calibri"/>
              </a:rPr>
              <a:t>PG-04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7772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F3E"/>
                </a:solidFill>
                <a:latin typeface="Calibri"/>
              </a:rPr>
              <a:t>Queue engine unifié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98480" y="914400"/>
            <a:ext cx="82296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CONTEXTE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11247120" cy="8229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Calibri"/>
              </a:rPr>
              <a:t>Billing propose pgmq. Reporting (scheduled delivery) et Agentic (agent runs) muets. Risque : 3 queue engines coexistants.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OPTIONS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858000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9184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9184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pgmq (Postgres-native, simple ops)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06908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BullMQ + Redis (Node mature)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NATS JetStream (polyglot)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235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62356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Inngest managed (rejeté MVP)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2880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RECOMMANDATION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3200400"/>
            <a:ext cx="4114800" cy="246888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337560"/>
            <a:ext cx="37490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✓ Arbitré 2026-05-14 : (a) pgmq MVP, avec interface JobQueue abstraite supportant (a/b/c). Adapter pattern, scheduler ne touche jamais pgmq directement.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8521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IMPACT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852160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Touche billing récurrent + reporting scheduled + agentic runs · 3 implémentations possibles via le même contrat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Décisions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45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E5E7EB"/>
                </a:solidFill>
                <a:latin typeface="Calibri"/>
              </a:rPr>
              <a:t>MVP Decision Pack — 2026-05-14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D97606"/>
                </a:solidFill>
                <a:latin typeface="Calibri"/>
              </a:rPr>
              <a:t>PG-05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7772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F3E"/>
                </a:solidFill>
                <a:latin typeface="Calibri"/>
              </a:rPr>
              <a:t>Catalogue i18n unifié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98480" y="914400"/>
            <a:ext cx="82296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CONTEXTE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11247120" cy="8229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Calibri"/>
              </a:rPr>
              <a:t>Foundation propose ICU JSON nested. Project utilise fr_label/en_label colonnes SQL (anti-pattern). Incohérence à corriger.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OPTIONS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858000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9184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9184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ICU JSON nested + table TranslationKey foundation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06908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gettext .po per-module (anti-copy hotspot Odoo)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Flat JSON simple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2880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RECOMMANDATION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0" y="3200400"/>
            <a:ext cx="4114800" cy="246888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3337560"/>
            <a:ext cx="37490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ICU JSON nested + table TranslationKey foundation. Project corrige ServiceActivity pour utiliser keys au lieu de colonnes.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8521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852160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Bloque build pipeline · Foundation owns + 5 specs alignées · FR-CA prioritaire EN-CA parité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Décisions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45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E5E7EB"/>
                </a:solidFill>
                <a:latin typeface="Calibri"/>
              </a:rPr>
              <a:t>MVP Decision Pack — 2026-05-14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D97606"/>
                </a:solidFill>
                <a:latin typeface="Calibri"/>
              </a:rPr>
              <a:t>PG-06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7772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F3E"/>
                </a:solidFill>
                <a:latin typeface="Calibri"/>
              </a:rPr>
              <a:t>Canon entités partagées (4 articles)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98480" y="914400"/>
            <a:ext cx="82296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CONTEXTE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11247120" cy="8229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Calibri"/>
              </a:rPr>
              <a:t>Codex propose un canon transverse cohérent à valider en bloc. Ce ne sont PAS des options alternatives mais les 4 articles du canon à graver. Sans ce canon, chaque module réinvente.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OPTIONS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858000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9184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9184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Article 1 : Organization (métier) + tenant (runtime), Money = {amount_minor, currency(3), scale}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06908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Article 2 : AuditEvent / DomainEvent / TimelineEntry séparés (3 couches)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Article 3 : Activity préfixé : CrmActivity, ProjectTask, ServiceActivity, AgentRun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235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62356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Article 4 : Company entité + customer = rôle ; Project owns InvoiceProposal, Billing owns Invoice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2880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RECOMMANDATION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3200400"/>
            <a:ext cx="4114800" cy="246888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337560"/>
            <a:ext cx="37490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✓ Arbitré 2026-05-14 : canon adopté en bloc. Création docs/study/10-mvp-specs/shared-entities-v1.md comme contrat transverse à la prochaine étape.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8521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IMPACT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852160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Contrat transverse · Bloque toutes specs · Empêche divergence terminologique pré-code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Décisions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45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E5E7EB"/>
                </a:solidFill>
                <a:latin typeface="Calibri"/>
              </a:rPr>
              <a:t>MVP Decision Pack — 2026-05-14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D97606"/>
                </a:solidFill>
                <a:latin typeface="Calibri"/>
              </a:rPr>
              <a:t>PG-07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7772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F3E"/>
                </a:solidFill>
                <a:latin typeface="Calibri"/>
              </a:rPr>
              <a:t>ApprovalRequest entité foundation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98480" y="914400"/>
            <a:ext cx="82296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CONTEXTE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11247120" cy="8229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Calibri"/>
              </a:rPr>
              <a:t>Foundation a action approve, project a TimeApproval, CRM a threshold, billing a void/write-off, agentic a approval-in-the-loop. 5 réinventions sans canon.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OPTIONS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858000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9184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9184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Chaque module réinvente (état actuel)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06908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Entité ApprovalRequest foundation partagée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Workflow primitive externalisée vers reporting/automation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2880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RECOMMANDATION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0" y="3200400"/>
            <a:ext cx="4114800" cy="246888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3337560"/>
            <a:ext cx="37490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✓ Arbitré 2026-05-14 : (b) ApprovalRequest foundation, exposée via 3 surfaces — API REST, tool MCP request_approval(), SDK @sentropic/openerp-sdk. Codex et Claude consomment le même tool schema.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8521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852160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Touche 5 specs · Économise 4 réimplémentations · Audit trail unifié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Décisions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45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E5E7EB"/>
                </a:solidFill>
                <a:latin typeface="Calibri"/>
              </a:rPr>
              <a:t>MVP Decision Pack — 2026-05-14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D97606"/>
                </a:solidFill>
                <a:latin typeface="Calibri"/>
              </a:rPr>
              <a:t>PG-08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7772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F3E"/>
                </a:solidFill>
                <a:latin typeface="Calibri"/>
              </a:rPr>
              <a:t>Idempotency-Key universel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98480" y="914400"/>
            <a:ext cx="82296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CONTEXTE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11247120" cy="8229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Calibri"/>
              </a:rPr>
              <a:t>Header HTTP Idempotency-Key envoyé par le client sur POST/DELETE. Serveur stocke (key, response) en DB ; replay → cache hit. Évite double facturation, double agent run, double import sur retry réseau.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OPTIONS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858000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9184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9184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4 endpoints seulement (foundation actuel)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06908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Toute POST/DELETE à side-effect métier (extension)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Aucune idempotence MVP (rejeté)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2880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RECOMMANDATION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0" y="3200400"/>
            <a:ext cx="4114800" cy="246888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3337560"/>
            <a:ext cx="37490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✓ Arbitré 2026-05-14 : (b) Idempotency-Key obligatoire sur toute POST/DELETE à side-effect métier. TTL 24h, table IdempotencyRecord en foundation. Middleware pattern (Stripe).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8521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852160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Touche toutes specs API · Sécurise retry agentic + automation + import CRM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Décisions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45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E5E7EB"/>
                </a:solidFill>
                <a:latin typeface="Calibri"/>
              </a:rPr>
              <a:t>MVP Decision Pack — 2026-05-14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D97606"/>
                </a:solidFill>
                <a:latin typeface="Calibri"/>
              </a:rPr>
              <a:t>PG-09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7772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F3E"/>
                </a:solidFill>
                <a:latin typeface="Calibri"/>
              </a:rPr>
              <a:t>Identité agent + délégation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98480" y="914400"/>
            <a:ext cx="82296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CONTEXTE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11247120" cy="8229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Calibri"/>
              </a:rPr>
              <a:t>JWT seul insuffisant. Délégation d'action et policy association = objectif clé pour enabler l'agentique. Audit-grade traceabilité requise.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OPTIONS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858000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9184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9184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MVP : JWT + RFC 8693 token exchange (act / may_act claims)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06908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Post-MVP : SPIFFE/SVID workload attestation (CNCF, aligné NIST SP 800-204)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Policy binding : AgentDefinition.allowed_tools, max_spend, requires_approval_above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2880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RECOMMANDATION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0" y="3200400"/>
            <a:ext cx="4114800" cy="246888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3337560"/>
            <a:ext cx="37490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✓ Arbitré 2026-05-14 : stack hybride. MVP RFC 8693 token exchange + ApprovalRequest comme issuance. SPIFFE post-MVP via abstraction IdentityProvider. Cookie humains + JWT signé agents. AuditEvent étendu avec acting_principal + on_behalf_of + policy_decision_id.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8521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852160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Foundation + Agentic décident ensemble · Bloque tout flow d'agent autonome · Chaîne délégation auditable de bout en bout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Décisions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45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E5E7EB"/>
                </a:solidFill>
                <a:latin typeface="Calibri"/>
              </a:rPr>
              <a:t>MVP Decision Pack — 2026-05-14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D97606"/>
                </a:solidFill>
                <a:latin typeface="Calibri"/>
              </a:rPr>
              <a:t>PG-10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7772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F3E"/>
                </a:solidFill>
                <a:latin typeface="Calibri"/>
              </a:rPr>
              <a:t>Stack BI /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98480" y="914400"/>
            <a:ext cx="82296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CONTEXTE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11247120" cy="8229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Calibri"/>
              </a:rPr>
              <a:t>Reporting propose native SvelteKit dashboard. CRM, project, billing ont besoin de dashboards sans engagement clair → risque dérive Superset-clone.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OPTIONS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858000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9184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9184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Native SvelteKit + primitive foundation Widget/Dashboard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06908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Superset embed iframe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Grafana Apache embed (option pack)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2880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RECOMMANDATION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0" y="3200400"/>
            <a:ext cx="4114800" cy="246888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3337560"/>
            <a:ext cx="37490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✓ Arbitré 2026-05-14 : (a) primitive Widget foundation, coordination tokens/composants avec @sent-tech à clarifier. Veille charts Svelte (layerchart, svelte-echarts, chart.js, observable plot) à dispatcher. Aspiration VizQL post-MVP.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8521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852160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Touche reporting + CRM dashboards + project dashboards + billing dashboards · Évite dépendance Selenium/Chromium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Décisions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45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E5E7EB"/>
                </a:solidFill>
                <a:latin typeface="Calibri"/>
              </a:rPr>
              <a:t>MVP Decision Pack — 2026-05-14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D97606"/>
                </a:solidFill>
                <a:latin typeface="Calibri"/>
              </a:rPr>
              <a:t>PG-11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7772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F3E"/>
                </a:solidFill>
                <a:latin typeface="Calibri"/>
              </a:rPr>
              <a:t>Stack templating (docx + pdf)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98480" y="914400"/>
            <a:ext cx="82296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CONTEXTE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11247120" cy="8229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Calibri"/>
              </a:rPr>
              <a:t>Reporting propose server-side template ; billing parle de PDF FR/EN sans préciser ; foundation muet. @sentropic a déjà un moteur DOCX mature (dolanmiu/docx + couche maison patchDocument, syntaxe {{...}} + boucles, Word TOC) et un PDF plus basique.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OPTIONS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858000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9184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9184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Extraction @sentropic : librariser docx + pdf, OpenERP consomme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06908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Vivliostyle (CSS Paged Media, Node) — rejeté au profit de @sentropic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LaTeX — rejeté pour stack 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2880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RECOMMANDATION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0" y="3200400"/>
            <a:ext cx="4114800" cy="246888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3337560"/>
            <a:ext cx="37490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✓ Arbitré 2026-05-14 : extraction @sentropic en 2 packages — @sentropic/docx-templating (extractible immédiatement) + @sentropic/pdf-templating (audit + roadmap : Paged Media, FR-CA fonts, accessibilité, templates fiscaux statutaires). OpenERP consomme via npm.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8521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852160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Touche reporting exports + billing invoices + foundation receipts · Coordination avec roadmap @sentropic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Décisions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45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E5E7EB"/>
                </a:solidFill>
                <a:latin typeface="Calibri"/>
              </a:rPr>
              <a:t>MVP Decision Pack — 2026-05-14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D97606"/>
                </a:solidFill>
                <a:latin typeface="Calibri"/>
              </a:rPr>
              <a:t>PG-12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7772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F3E"/>
                </a:solidFill>
                <a:latin typeface="Calibri"/>
              </a:rPr>
              <a:t>Anti-copy review process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98480" y="914400"/>
            <a:ext cx="82296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CONTEXTE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11247120" cy="8229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Calibri"/>
              </a:rPr>
              <a:t>23 hotspots consolidés. Aucun owner. Aucun script CI. Précision : noms business génériques (Company, Invoice, Project, Task, Currency) ne sont pas anti-copy — une pomme est une pomme, non copyrightable.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OPTIONS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858000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9184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9184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Revue spec par spec (atomisé, état actuel)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06908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Owner anti-copy nommé + revue par PR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+ Script CI grep patterns expression-spécifiques (Odoo mail.thread, Twenty ObjectMetadata, etc.)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2880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RECOMMANDATION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0" y="3200400"/>
            <a:ext cx="4114800" cy="246888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3337560"/>
            <a:ext cx="37490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✓ Arbitré 2026-05-14 : (b) owner anti-copy + (c) tools/anti-copy-grep.sh ciblé patterns expression seulement (pas les noms génériques business). Liste précise : Odoo ir.*, account.move, mail.thread + Twenty ObjectMetadata + Frappe doctype + Kimai KEvent + SuiteCRM bean-&gt;.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8521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852160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Évite contamination LGPL/AGPL · Discipline pre-code obligatoire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Décisions par spec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E5E7EB"/>
                </a:solidFill>
                <a:latin typeface="Calibri"/>
              </a:rPr>
              <a:t>30 décisions clés réparties sur 6 modules MVP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Décisions spec — Foundation — Security &amp; i18n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45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E5E7EB"/>
                </a:solidFill>
                <a:latin typeface="Calibri"/>
              </a:rPr>
              <a:t>MVP Decision Pack — 2026-05-14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1F3E"/>
                </a:solidFill>
                <a:latin typeface="Calibri"/>
              </a:rPr>
              <a:t>Foundation — Security &amp; i18n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Décisions clés à graver dans la spec après arbitrage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11247120" cy="457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19202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DÉCISION &amp; RECO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F-1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46888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RBAC plat resource.action.scope confirmé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36392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182112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F-2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182112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Étendre AuditEvent foundation avec colonnes optionnelles agentiques avant que les autres specs ne dépendent du schéma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49624"/>
            <a:ext cx="11247120" cy="6858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95344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F-3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895344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Audit log = table append-only partitionnée par mois, rétention 1 an défaut, plancher 90j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62856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08576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F-4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4608576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Auth MVP = passkey / WebAuthn direct (drop password + TOTP MVP)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76088"/>
            <a:ext cx="11247120" cy="6858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21808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F-5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5321808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Permission granularity = objet uniquement MVP, hook record-policy réservé post-MVP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Décisions spec — CRM — Customer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45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E5E7EB"/>
                </a:solidFill>
                <a:latin typeface="Calibri"/>
              </a:rPr>
              <a:t>MVP Decision Pack — 2026-05-14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1F3E"/>
                </a:solidFill>
                <a:latin typeface="Calibri"/>
              </a:rPr>
              <a:t>CRM — Customer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Décisions clés à graver dans la spec après arbitrage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11247120" cy="457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19202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DÉCISION &amp; RECO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C-1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46888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Lead / Opportunity séparés (Odoo-style en abstraction, pas verbatim)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36392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182112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C-2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182112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Custom fields = JSON column + CustomFieldDefinition declarative limitée (pas de runtime metadata engine)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49624"/>
            <a:ext cx="11247120" cy="6858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95344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C-3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895344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Multi-currency par opportunité — à valider avec Billing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62856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08576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C-4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4608576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QuoteHandoff : CRM owns handoff event, Billing owns quote doc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76088"/>
            <a:ext cx="11247120" cy="6858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21808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C-5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5321808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Pipeline stage translation = table dédiée (pas keys dynamiques avec tenant_id)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Décisions spec — Project — Time to Invoice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45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E5E7EB"/>
                </a:solidFill>
                <a:latin typeface="Calibri"/>
              </a:rPr>
              <a:t>MVP Decision Pack — 2026-05-14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1F3E"/>
                </a:solidFill>
                <a:latin typeface="Calibri"/>
              </a:rPr>
              <a:t>Project — Time to Invoice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Décisions clés à graver dans la spec après arbitrage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11247120" cy="457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19202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DÉCISION &amp; RECO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P-1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46888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Time entry = manual + timer optionnel (codex réserve : timer post-MVP)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36392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182112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P-2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182112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Approval per-week (per-entry trop granulaire, per-project trop coarse)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49624"/>
            <a:ext cx="11247120" cy="6858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95344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P-3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895344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Invoice trigger = mix manuel + milestone. Récurrent post-MVP.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62856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08576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P-4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4608576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Tâche hiérarchie = parent-enfant 1 niveau MVP. Portfolio post-MVP.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76088"/>
            <a:ext cx="11247120" cy="6858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21808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P-5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5321808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Lien projet ↔ opportunité = 1:N (1 projet peut consommer plusieurs opportunités)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Décisions spec — Billing &amp; Accounting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45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E5E7EB"/>
                </a:solidFill>
                <a:latin typeface="Calibri"/>
              </a:rPr>
              <a:t>MVP Decision Pack — 2026-05-14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1F3E"/>
                </a:solidFill>
                <a:latin typeface="Calibri"/>
              </a:rPr>
              <a:t>Billing &amp; Accounting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Décisions clés à graver dans la spec après arbitrage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11247120" cy="457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19202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DÉCISION &amp; RECO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B-1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46888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Subscription = native simple + interface compatible Kill Bill (Apache) pour migration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36392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182112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B-2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182112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Plan comptable = pré-chargé CA/QC abstrait + révision juridique avant pilote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49624"/>
            <a:ext cx="11247120" cy="6858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95344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B-3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895344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Tax engine = pluggable interne versionné (GST/QST règles)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62856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08576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B-4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4608576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Multi-currency = MVP. Book tenant single, transactions multidevises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76088"/>
            <a:ext cx="11247120" cy="6858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21808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B-5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5321808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Payment = Stripe seul MVP. Multi-PSP via abstraction prête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Décisions spec — Reporting &amp; Automation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45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E5E7EB"/>
                </a:solidFill>
                <a:latin typeface="Calibri"/>
              </a:rPr>
              <a:t>MVP Decision Pack — 2026-05-14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1F3E"/>
                </a:solidFill>
                <a:latin typeface="Calibri"/>
              </a:rPr>
              <a:t>Reporting &amp;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Décisions clés à graver dans la spec après arbitrage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11247120" cy="457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19202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DÉCISION &amp; RECO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R-1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46888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BI = native SvelteKit + primitive foundation Widget (cf. PG-10)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36392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182112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R-2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182112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Automation = typed YAML DSL + TS handlers. Pas de Node-RED canvas MVP.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49624"/>
            <a:ext cx="11247120" cy="6858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95344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R-3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895344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Scheduled reports = pgmq cron (cf. PG-04)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62856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08576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R-4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4608576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Drill-down = live SQL MVP. Vues matérialisées post-MVP.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76088"/>
            <a:ext cx="11247120" cy="6858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21808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R-5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5321808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Permissions = foundation RBAC + visibility=team MVP. Rôle 'performance opérationnelle' (process défini, KPIs définis, proche mesure marché). Agent assistant aide à cadrer KPIs.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Décisions spec — Agentic Impacts (transverse)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45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E5E7EB"/>
                </a:solidFill>
                <a:latin typeface="Calibri"/>
              </a:rPr>
              <a:t>MVP Decision Pack — 2026-05-14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1F3E"/>
                </a:solidFill>
                <a:latin typeface="Calibri"/>
              </a:rPr>
              <a:t>Agentic Impacts (transverse)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Décisions clés à graver dans la spec après arbitrage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11247120" cy="45720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19202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DÉCISION &amp; RECO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D97606"/>
                </a:solidFill>
                <a:latin typeface="Calibri"/>
              </a:rPr>
              <a:t>A-1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46888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Sandbox = responsabilité @sentropic. OpenERP exige API sandbox + capability manifest. Feature request si manquant.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36392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182112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D97606"/>
                </a:solidFill>
                <a:latin typeface="Calibri"/>
              </a:rPr>
              <a:t>A-2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182112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Policy = native TS MVP. OPA en pack post-MVP.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49624"/>
            <a:ext cx="11247120" cy="6858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95344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D97606"/>
                </a:solidFill>
                <a:latin typeface="Calibri"/>
              </a:rPr>
              <a:t>A-3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895344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Observability = OpenInference + OpenLLMetry MVP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62856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08576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D97606"/>
                </a:solidFill>
                <a:latin typeface="Calibri"/>
              </a:rPr>
              <a:t>A-4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4608576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Identity agent = RFC 8693 token exchange MVP + SPIFFE post-MVP (cf. PG-09)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76088"/>
            <a:ext cx="11247120" cy="6858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21808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D97606"/>
                </a:solidFill>
                <a:latin typeface="Calibri"/>
              </a:rPr>
              <a:t>A-5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5321808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MCP registry = interne native MVP. Public registry post-MVP.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98932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03504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D97606"/>
                </a:solidFill>
                <a:latin typeface="Calibri"/>
              </a:rPr>
              <a:t>A-6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603504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Supervision UI = hybride inline + panneau /supervision. Contrainte transverse : tout écran métier réserve zone supervision banner.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Séquence de décision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45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E5E7EB"/>
                </a:solidFill>
                <a:latin typeface="Calibri"/>
              </a:rPr>
              <a:t>MVP Decision Pack — 2026-05-14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1F3E"/>
                </a:solidFill>
                <a:latin typeface="Calibri"/>
              </a:rPr>
              <a:t>Séquence de décision en 4 phases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Ordre dans lequel arbitrer pour ne pas bloquer le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1097280" cy="10972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P0</a:t>
            </a:r>
          </a:p>
        </p:txBody>
      </p:sp>
      <p:sp>
        <p:nvSpPr>
          <p:cNvPr id="9" name="Rectangle 8"/>
          <p:cNvSpPr/>
          <p:nvPr/>
        </p:nvSpPr>
        <p:spPr>
          <a:xfrm>
            <a:off x="1645920" y="1828800"/>
            <a:ext cx="10058400" cy="10972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192024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  <a:latin typeface="Calibri"/>
              </a:rPr>
              <a:t>Semaine 0 — Bloque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331720"/>
            <a:ext cx="9875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74151"/>
                </a:solidFill>
                <a:latin typeface="Calibri"/>
              </a:rPr>
              <a:t>PG-01 ✓ résolu  ·  PG-02 identité multi-tenant  ·  PG-03 isolation RLS  ·  PG-04 queue  ·  PG-05 i18n  ·  PG-06 canon entités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71800"/>
            <a:ext cx="1097280" cy="109728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971800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0" y="2971800"/>
            <a:ext cx="10058400" cy="10972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97606"/>
                </a:solidFill>
                <a:latin typeface="Calibri"/>
              </a:rPr>
              <a:t>Semaines 1-2 — Architectural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474720"/>
            <a:ext cx="9875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74151"/>
                </a:solidFill>
                <a:latin typeface="Calibri"/>
              </a:rPr>
              <a:t>PG-07 ApprovalRequest  ·  PG-08 Idempotency-Key  ·  PG-09 identité agent  ·  PG-10 BI stack  ·  AuditEvent étendu agentic  ·  Money type partagé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14800"/>
            <a:ext cx="1097280" cy="109728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114800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P2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45920" y="4114800"/>
            <a:ext cx="10058400" cy="10972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00" y="420624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Semaines 2-3 — Produit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17720"/>
            <a:ext cx="9875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74151"/>
                </a:solidFill>
                <a:latin typeface="Calibri"/>
              </a:rPr>
              <a:t>PG-11 PDF  ·  PG-12 anti-copy process  ·  Décisions par spec (5 à 6 par module)  ·  Custom fields declarative  ·  Timeline grammar  ·  Supervision UI hybride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57800"/>
            <a:ext cx="1097280" cy="109728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257800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P3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45920" y="5257800"/>
            <a:ext cx="10058400" cy="10972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0" y="534924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Calibri"/>
              </a:rPr>
              <a:t>Semaines 3-4 — Opérationnel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760720"/>
            <a:ext cx="9875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74151"/>
                </a:solidFill>
                <a:latin typeface="Calibri"/>
              </a:rPr>
              <a:t>NOTICE racine créé  ·  Script CI anti-copy  ·  Sweep résiduel terminé  ·  Specs figées prêtes à coder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Désaccords reviewers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45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E5E7EB"/>
                </a:solidFill>
                <a:latin typeface="Calibri"/>
              </a:rPr>
              <a:t>MVP Decision Pack — 2026-05-14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1F3E"/>
                </a:solidFill>
                <a:latin typeface="Calibri"/>
              </a:rPr>
              <a:t>Points où les reviewers contestent les recos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À porter à ta connaissance avant arbitrage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137160" cy="64008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F3E"/>
                </a:solidFill>
                <a:latin typeface="Calibri"/>
              </a:rPr>
              <a:t>Sandbox MVP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74151"/>
                </a:solidFill>
                <a:latin typeface="Calibri"/>
              </a:rPr>
              <a:t>Codex conteste isolated-vm si MVP doit accueillir du code tiers hostile.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828800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82880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→ Clarifier scope : handlers internes signés seulement → isolated-vm OK.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87752"/>
            <a:ext cx="137160" cy="64008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877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F3E"/>
                </a:solidFill>
                <a:latin typeface="Calibri"/>
              </a:rPr>
              <a:t>Reporting team-scope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62072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74151"/>
                </a:solidFill>
                <a:latin typeface="Calibri"/>
              </a:rPr>
              <a:t>Claude reviewer recommande d'assouplir 'admin-curated only'.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2587752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2587752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→ Autoriser dashboards team-scope ; sinon export Excel constant.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46704"/>
            <a:ext cx="137160" cy="64008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34670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F3E"/>
                </a:solidFill>
                <a:latin typeface="Calibri"/>
              </a:rPr>
              <a:t>CRM Activity vs Task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621024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74151"/>
                </a:solidFill>
                <a:latin typeface="Calibri"/>
              </a:rPr>
              <a:t>Codex en désaccord avec unification CRM.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3346704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79" y="3346704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→ Préfère Task ≠ Interaction (cycle de vie distinct).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105656"/>
            <a:ext cx="137160" cy="64008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10565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F3E"/>
                </a:solidFill>
                <a:latin typeface="Calibri"/>
              </a:rPr>
              <a:t>AGT-D-12 fork upstream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379976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74151"/>
                </a:solidFill>
                <a:latin typeface="Calibri"/>
              </a:rPr>
              <a:t>Claude reviewer suggère reformulation neutre.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0" y="4105656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79" y="4105656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→ Éviter engagement irréaliste de contribution upstream best-effort.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864608"/>
            <a:ext cx="137160" cy="64008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8646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F3E"/>
                </a:solidFill>
                <a:latin typeface="Calibri"/>
              </a:rPr>
              <a:t>pipeline_stage.{tenant_stage_id}.fr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138928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74151"/>
                </a:solidFill>
                <a:latin typeface="Calibri"/>
              </a:rPr>
              <a:t>Anti-pattern tenant_id dans key i18n.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4864608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79" y="4864608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→ Table dédiée PipelineStageTranslation au lieu de keys dynamiques.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623560"/>
            <a:ext cx="137160" cy="64008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6235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F3E"/>
                </a:solidFill>
                <a:latin typeface="Calibri"/>
              </a:rPr>
              <a:t>Idempotency-Key 4 endpoints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8978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74151"/>
                </a:solidFill>
                <a:latin typeface="Calibri"/>
              </a:rPr>
              <a:t>Reviewers d'accord : trop restrictif.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0" y="5623560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79" y="562356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→ Étendre à toute POST/DELETE à side-effect métier.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Anti-copy hotspots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45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E5E7EB"/>
                </a:solidFill>
                <a:latin typeface="Calibri"/>
              </a:rPr>
              <a:t>MVP Decision Pack — 2026-05-14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1F3E"/>
                </a:solidFill>
                <a:latin typeface="Calibri"/>
              </a:rPr>
              <a:t>Top 12 anti-copy hotspots transverses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23 hotspots consolidés ; liste complète dans tmp/claude-cross-review.md §9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11247120" cy="36576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8288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HOTSPOT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8288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DONNEUR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1828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SPEC(S) IMPACTÉE(S)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11247120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19456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19456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Odoo mail.thread / Chatter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1945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374151"/>
                </a:solidFill>
                <a:latin typeface="Calibri"/>
              </a:rPr>
              <a:t>LGPL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219456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374151"/>
                </a:solidFill>
                <a:latin typeface="Calibri"/>
              </a:rPr>
              <a:t>CRM, Foundation Comment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1460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146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51460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Twenty ObjectMetadata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51460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374151"/>
                </a:solidFill>
                <a:latin typeface="Calibri"/>
              </a:rPr>
              <a:t>AGPL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51460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374151"/>
                </a:solidFill>
                <a:latin typeface="Calibri"/>
              </a:rPr>
              <a:t>CRM custom fields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834640"/>
            <a:ext cx="11247120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283464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283464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Twenty workspaceMember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28346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374151"/>
                </a:solidFill>
                <a:latin typeface="Calibri"/>
              </a:rPr>
              <a:t>AGPL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8346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374151"/>
                </a:solidFill>
                <a:latin typeface="Calibri"/>
              </a:rPr>
              <a:t>Foundation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15468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1546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31546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Odoo ir.model.fields field-ACL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31546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374151"/>
                </a:solidFill>
                <a:latin typeface="Calibri"/>
              </a:rPr>
              <a:t>LGPL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315468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374151"/>
                </a:solidFill>
                <a:latin typeface="Calibri"/>
              </a:rPr>
              <a:t>Foundation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474720"/>
            <a:ext cx="11247120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34747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347472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Odoo mail.activity / mail.message split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34747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374151"/>
                </a:solidFill>
                <a:latin typeface="Calibri"/>
              </a:rPr>
              <a:t>LGPL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347472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374151"/>
                </a:solidFill>
                <a:latin typeface="Calibri"/>
              </a:rPr>
              <a:t>CRM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79476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79476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88720" y="379476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Odoo l10n_ca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37947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374151"/>
                </a:solidFill>
                <a:latin typeface="Calibri"/>
              </a:rPr>
              <a:t>LGPL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379476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374151"/>
                </a:solidFill>
                <a:latin typeface="Calibri"/>
              </a:rPr>
              <a:t>Billing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14800"/>
            <a:ext cx="11247120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41148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88720" y="411480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Odoo account.move / account.move.line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0" y="411480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374151"/>
                </a:solidFill>
                <a:latin typeface="Calibri"/>
              </a:rPr>
              <a:t>LGPL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411480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374151"/>
                </a:solidFill>
                <a:latin typeface="Calibri"/>
              </a:rPr>
              <a:t>Billing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43484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443484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88720" y="443484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Odoo auth_totp UI text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0" y="44348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374151"/>
                </a:solidFill>
                <a:latin typeface="Calibri"/>
              </a:rPr>
              <a:t>LGPL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44348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374151"/>
                </a:solidFill>
                <a:latin typeface="Calibri"/>
              </a:rPr>
              <a:t>Foundation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754880"/>
            <a:ext cx="11247120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47548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88720" y="47548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Odoo ir.rule record rules DSL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0" y="47548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374151"/>
                </a:solidFill>
                <a:latin typeface="Calibri"/>
              </a:rPr>
              <a:t>LGPL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0" y="475488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374151"/>
                </a:solidFill>
                <a:latin typeface="Calibri"/>
              </a:rPr>
              <a:t>Foundation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507492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0080" y="50749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88720" y="507492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Kimai timesheet + invoice renderers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0" y="50749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374151"/>
                </a:solidFill>
                <a:latin typeface="Calibri"/>
              </a:rPr>
              <a:t>AGPL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0" y="507492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374151"/>
                </a:solidFill>
                <a:latin typeface="Calibri"/>
              </a:rPr>
              <a:t>Project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5394960"/>
            <a:ext cx="11247120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" y="539496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88720" y="539496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Superset chart controls + Selenium PDF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72400" y="5394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374151"/>
                </a:solidFill>
                <a:latin typeface="Calibri"/>
              </a:rPr>
              <a:t>Apache (défensif)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01200" y="539496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374151"/>
                </a:solidFill>
                <a:latin typeface="Calibri"/>
              </a:rPr>
              <a:t>Reporting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7200" y="571500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80" y="5715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D97606"/>
                </a:solidFill>
                <a:latin typeface="Calibri"/>
              </a:rPr>
              <a:t>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88720" y="571500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Node-RED node palette + flow JSON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772400" y="571500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374151"/>
                </a:solidFill>
                <a:latin typeface="Calibri"/>
              </a:rPr>
              <a:t>Apache (défensif)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01200" y="571500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374151"/>
                </a:solidFill>
                <a:latin typeface="Calibri"/>
              </a:rPr>
              <a:t>Reporting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D97606"/>
                </a:solidFill>
                <a:latin typeface="Calibri"/>
              </a:rPr>
              <a:t>Action porteur produit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822960" cy="82296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783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Arbitrage terminé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1488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5E7EB"/>
                </a:solidFill>
                <a:latin typeface="Calibri"/>
              </a:rPr>
              <a:t>12 décisions programme arbitrées 2026-05-14. Décisions gravées inline dans les 6 specs MVP.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788920"/>
            <a:ext cx="822960" cy="82296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78892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834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PR @sentropic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0040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5E7EB"/>
                </a:solidFill>
                <a:latin typeface="Calibri"/>
              </a:rPr>
              <a:t>Ouvrir PR via ~/src/entropiq pour MCP + OTel + policy hooks + multi-tenant identity + marketplace primitives + sandbox API. Respect du plan @sentropic. L'autre agent continue le dev.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840480"/>
            <a:ext cx="822960" cy="82296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84048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86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Implémentation foundation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5196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5E7EB"/>
                </a:solidFill>
                <a:latin typeface="Calibri"/>
              </a:rPr>
              <a:t>Démarrer impl foundation (UserIdentity + OrganizationMember + RLS + RBAC + ICU + Money + ApprovalRequest + Idempotency-Key) + shared-entities-v1.md.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892040"/>
            <a:ext cx="822960" cy="82296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89204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9377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Mode supervision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3035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5E7EB"/>
                </a:solidFill>
                <a:latin typeface="Calibri"/>
              </a:rPr>
              <a:t>Toi en supervision / audit. Je suis en réalisation. Push à ton OK explicite.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