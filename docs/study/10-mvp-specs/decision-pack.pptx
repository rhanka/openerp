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 type="wide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" Type="http://schemas.openxmlformats.org/officeDocument/2006/relationships/slideMaster" Target="slideMasters/slideMaster1.xml" 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arget="../slideLayouts/slideLayout1.xml" Type="http://schemas.openxmlformats.org/officeDocument/2006/relationships/slideLayout" /><Relationship Id="rId2" Target="../theme/theme1.xml" Type="http://schemas.openxmlformats.org/officeDocument/2006/relationships/theme" /><Relationship Id="rId7" Type="http://schemas.openxmlformats.org/officeDocument/2006/relationships/slideLayout" Target="../slideLayouts/slideLayout3.xml" /><Relationship Id="rId6" Type="http://schemas.openxmlformats.org/officeDocument/2006/relationships/slideLayout" Target="../slideLayouts/slideLayout2.xml" /><Relationship Id="rId5" Type="http://schemas.openxmlformats.org/officeDocument/2006/relationships/slideLayout" Target="../slideLayouts/slideLayout4.xml" /><Relationship Id="rId4" Type="http://schemas.openxmlformats.org/officeDocument/2006/relationships/slideLayout" Target="../slideLayouts/slideLayout5.xml" /><Relationship Id="rId3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4" r:id="rId7"/>
    <p:sldLayoutId id="2147483653" r:id="rId6"/>
    <p:sldLayoutId id="2147483652" r:id="rId5"/>
    <p:sldLayoutId id="2147483651" r:id="rId4"/>
    <p:sldLayoutId id="2147483650" r:id="rId3"/>
  </p:sldLayoutIdLst>
  <p:txStyles>
    <p:titleStyle/>
    <p:bodyStyle/>
    <p:otherStyle/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MVP Decision Pack — 2026-05-12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Sprint de cadrage MVP OpenERP. Consolidation transverse des 6 specs MVP enrichies, double revue (Claude reviewer + codex second-avis), correction </a:t>
            </a:r>
            <a:r>
              <a:rPr>
                <a:latin typeface="Courier"/>
              </a:rPr>
              <a:t>@sentropic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Fait</a:t>
            </a:r>
            <a:r>
              <a:rPr/>
              <a:t> : 6 specs MVP enrichies (commit </a:t>
            </a:r>
            <a:r>
              <a:rPr>
                <a:latin typeface="Courier"/>
              </a:rPr>
              <a:t>f163a16</a:t>
            </a:r>
            <a:r>
              <a:rPr/>
              <a:t>, +1675 lignes), double revue (</a:t>
            </a:r>
            <a:r>
              <a:rPr>
                <a:latin typeface="Courier"/>
              </a:rPr>
              <a:t>tmp/claude-cross-review.md</a:t>
            </a:r>
            <a:r>
              <a:rPr/>
              <a:t> 5300 mots + </a:t>
            </a:r>
            <a:r>
              <a:rPr>
                <a:latin typeface="Courier"/>
              </a:rPr>
              <a:t>tmp/codex-review.md</a:t>
            </a:r>
            <a:r>
              <a:rPr/>
              <a:t> 1500 mots), decision-pack MD + PPTX (commits </a:t>
            </a:r>
            <a:r>
              <a:rPr>
                <a:latin typeface="Courier"/>
              </a:rPr>
              <a:t>c277be1</a:t>
            </a:r>
            <a:r>
              <a:rPr/>
              <a:t> + </a:t>
            </a:r>
            <a:r>
              <a:rPr>
                <a:latin typeface="Courier"/>
              </a:rPr>
              <a:t>a499fd2</a:t>
            </a:r>
            <a:r>
              <a:rPr/>
              <a:t> thème projet), sweep rename </a:t>
            </a:r>
            <a:r>
              <a:rPr>
                <a:latin typeface="Courier"/>
              </a:rPr>
              <a:t>@entropiq</a:t>
            </a:r>
            <a:r>
              <a:rPr/>
              <a:t> → </a:t>
            </a:r>
            <a:r>
              <a:rPr>
                <a:latin typeface="Courier"/>
              </a:rPr>
              <a:t>@sentropic</a:t>
            </a:r>
            <a:r>
              <a:rPr/>
              <a:t> plain MIT sur 30 docs (commit </a:t>
            </a:r>
            <a:r>
              <a:rPr>
                <a:latin typeface="Courier"/>
              </a:rPr>
              <a:t>54dede9</a:t>
            </a:r>
            <a:r>
              <a:rPr/>
              <a:t>, 163 occurrences). Blocs </a:t>
            </a:r>
            <a:r>
              <a:rPr>
                <a:latin typeface="Courier"/>
              </a:rPr>
              <a:t>## Progress</a:t>
            </a:r>
            <a:r>
              <a:rPr/>
              <a:t> des 6 specs synchronisés.</a:t>
            </a:r>
          </a:p>
          <a:p>
            <a:pPr lvl="0"/>
            <a:r>
              <a:rPr b="1"/>
              <a:t>À faire</a:t>
            </a:r>
            <a:r>
              <a:rPr/>
              <a:t> : arbitrage porteur produit sur ce pack (6 décisions P0 bloquent code), gravage des décisions inline dans les 6 specs, création </a:t>
            </a:r>
            <a:r>
              <a:rPr>
                <a:latin typeface="Courier"/>
              </a:rPr>
              <a:t>NOTICE</a:t>
            </a:r>
            <a:r>
              <a:rPr/>
              <a:t> racine, script CI anti-copy.</a:t>
            </a:r>
          </a:p>
          <a:p>
            <a:pPr lvl="0"/>
            <a:r>
              <a:rPr b="1"/>
              <a:t>Attendu</a:t>
            </a:r>
            <a:r>
              <a:rPr/>
              <a:t> : tu arbitres ; je grave ; je passe en mode réalisation/audit. Push remote en attente de ton OK explicite.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Synthèse exécutive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État global : enrichissement sérieux, cohérence anti-copy forte, FR-CA/EN-CA priorisé partout. Reviewers d’accord sur </a:t>
            </a:r>
            <a:r>
              <a:rPr b="1"/>
              <a:t>5 risques structurels</a:t>
            </a:r>
            <a:r>
              <a:rPr/>
              <a:t> ; codex apporte </a:t>
            </a:r>
            <a:r>
              <a:rPr b="1"/>
              <a:t>1 angle mort</a:t>
            </a:r>
            <a:r>
              <a:rPr/>
              <a:t> important sur le modèle d’identité.</a:t>
            </a:r>
          </a:p>
          <a:p>
            <a:pPr lvl="0" indent="0" marL="0">
              <a:buNone/>
            </a:pPr>
            <a:r>
              <a:rPr/>
              <a:t>Risque résolu : </a:t>
            </a:r>
            <a:r>
              <a:rPr b="1"/>
              <a:t>license </a:t>
            </a:r>
            <a:r>
              <a:rPr b="1">
                <a:latin typeface="Courier"/>
              </a:rPr>
              <a:t>@sentropic</a:t>
            </a:r>
            <a:r>
              <a:rPr b="1"/>
              <a:t> = plain MIT</a:t>
            </a:r>
            <a:r>
              <a:rPr/>
              <a:t>, plus de blocant commercial (renvoie AGT-D-12, AGT-D-13, P-12 au statut RÉSOLU).</a:t>
            </a:r>
          </a:p>
          <a:p>
            <a:pPr lvl="0" indent="0" marL="0">
              <a:buNone/>
            </a:pPr>
            <a:r>
              <a:rPr/>
              <a:t>Risques majeurs persistants : 1. Pas d’</a:t>
            </a:r>
            <a:r>
              <a:rPr>
                <a:latin typeface="Courier"/>
              </a:rPr>
              <a:t>Organization</a:t>
            </a:r>
            <a:r>
              <a:rPr/>
              <a:t> membership formalisé (</a:t>
            </a:r>
            <a:r>
              <a:rPr>
                <a:latin typeface="Courier"/>
              </a:rPr>
              <a:t>User.organization_id</a:t>
            </a:r>
            <a:r>
              <a:rPr/>
              <a:t> actuel casse le multi-tenant réel quand un humain appartient à plusieurs orgs). 2. Chaque spec choisit implicitement son scheduler/queue ; programme doit trancher unique. 3. </a:t>
            </a:r>
            <a:r>
              <a:rPr>
                <a:latin typeface="Courier"/>
              </a:rPr>
              <a:t>Activity</a:t>
            </a:r>
            <a:r>
              <a:rPr/>
              <a:t> devient un fourre-tout dangereux entre CRM, project, agentic ; canon à figer. 4. </a:t>
            </a:r>
            <a:r>
              <a:rPr>
                <a:latin typeface="Courier"/>
              </a:rPr>
              <a:t>AuditEvent</a:t>
            </a:r>
            <a:r>
              <a:rPr/>
              <a:t> / </a:t>
            </a:r>
            <a:r>
              <a:rPr>
                <a:latin typeface="Courier"/>
              </a:rPr>
              <a:t>DomainEvent</a:t>
            </a:r>
            <a:r>
              <a:rPr/>
              <a:t> / </a:t>
            </a:r>
            <a:r>
              <a:rPr>
                <a:latin typeface="Courier"/>
              </a:rPr>
              <a:t>TimelineEntry</a:t>
            </a:r>
            <a:r>
              <a:rPr/>
              <a:t> divergent déjà ; trois couches à séparer. 5. 23 anti-copy hotspots consolidés mais aucun owner programme + aucun script CI.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Décisions programme — arbitrage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 décisions transverses. </a:t>
            </a:r>
            <a:r>
              <a:rPr b="1"/>
              <a:t>Reco = ma proposition</a:t>
            </a:r>
            <a:r>
              <a:rPr/>
              <a:t>. Statut : </a:t>
            </a:r>
            <a:r>
              <a:rPr>
                <a:latin typeface="Courier"/>
              </a:rPr>
              <a:t>RESOLVED</a:t>
            </a:r>
            <a:r>
              <a:rPr/>
              <a:t> (déjà tranché ou par fact), </a:t>
            </a:r>
            <a:r>
              <a:rPr>
                <a:latin typeface="Courier"/>
              </a:rPr>
              <a:t>OPEN-P0</a:t>
            </a:r>
            <a:r>
              <a:rPr/>
              <a:t> (bloquant code), </a:t>
            </a:r>
            <a:r>
              <a:rPr>
                <a:latin typeface="Courier"/>
              </a:rPr>
              <a:t>OPEN-P1</a:t>
            </a:r>
            <a:r>
              <a:rPr/>
              <a:t> (architectural), </a:t>
            </a:r>
            <a:r>
              <a:rPr>
                <a:latin typeface="Courier"/>
              </a:rPr>
              <a:t>OPEN-P2</a:t>
            </a:r>
            <a:r>
              <a:rPr/>
              <a:t> (produit).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PG-01 — License </a:t>
            </a:r>
            <a:r>
              <a:rPr b="1">
                <a:latin typeface="Courier"/>
              </a:rPr>
              <a:t>@sentropic</a:t>
            </a:r>
            <a:r>
              <a:rPr b="1"/>
              <a:t> </a:t>
            </a:r>
            <a:r>
              <a:rPr b="1">
                <a:latin typeface="Courier"/>
              </a:rPr>
              <a:t>RESOLVED</a:t>
            </a:r>
          </a:p>
          <a:p>
            <a:pPr lvl="0"/>
            <a:r>
              <a:rPr b="1"/>
              <a:t>Fait</a:t>
            </a:r>
            <a:r>
              <a:rPr/>
              <a:t> : SDK renommé </a:t>
            </a:r>
            <a:r>
              <a:rPr>
                <a:latin typeface="Courier"/>
              </a:rPr>
              <a:t>@entropiq</a:t>
            </a:r>
            <a:r>
              <a:rPr/>
              <a:t> → </a:t>
            </a:r>
            <a:r>
              <a:rPr>
                <a:latin typeface="Courier"/>
              </a:rPr>
              <a:t>@sentropic</a:t>
            </a:r>
            <a:r>
              <a:rPr/>
              <a:t> 2026-05-12, license = plain MIT à toi-même.</a:t>
            </a:r>
          </a:p>
          <a:p>
            <a:pPr lvl="0"/>
            <a:r>
              <a:rPr/>
              <a:t>Conséquence : AGT-D-12 et AGT-D-13 résolus ; tout déploiement commercial OpenERP est juridiquement clear côté runtime.</a:t>
            </a:r>
          </a:p>
          <a:p>
            <a:pPr lvl="0"/>
            <a:r>
              <a:rPr b="1"/>
              <a:t>Action restante</a:t>
            </a:r>
            <a:r>
              <a:rPr/>
              <a:t> : sweep rename des 31 docs </a:t>
            </a:r>
            <a:r>
              <a:rPr>
                <a:latin typeface="Courier"/>
              </a:rPr>
              <a:t>@entropiq</a:t>
            </a:r>
            <a:r>
              <a:rPr/>
              <a:t> → </a:t>
            </a:r>
            <a:r>
              <a:rPr>
                <a:latin typeface="Courier"/>
              </a:rPr>
              <a:t>@sentropic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PG-02 — Identité + membership multi-tenant </a:t>
            </a:r>
            <a:r>
              <a:rPr b="1">
                <a:latin typeface="Courier"/>
              </a:rPr>
              <a:t>OPEN-P0</a:t>
            </a:r>
          </a:p>
          <a:p>
            <a:pPr lvl="0"/>
            <a:r>
              <a:rPr/>
              <a:t>Constat codex : </a:t>
            </a:r>
            <a:r>
              <a:rPr>
                <a:latin typeface="Courier"/>
              </a:rPr>
              <a:t>User.organization_id</a:t>
            </a:r>
            <a:r>
              <a:rPr/>
              <a:t> (foundation actuel) casse l’usage réel où un humain est membre de plusieurs organisations.</a:t>
            </a:r>
          </a:p>
          <a:p>
            <a:pPr lvl="0"/>
            <a:r>
              <a:rPr/>
              <a:t>Options : </a:t>
            </a:r>
            <a:r>
              <a:rPr b="1"/>
              <a:t>(a)</a:t>
            </a:r>
            <a:r>
              <a:rPr/>
              <a:t> </a:t>
            </a:r>
            <a:r>
              <a:rPr>
                <a:latin typeface="Courier"/>
              </a:rPr>
              <a:t>UserIdentity</a:t>
            </a:r>
            <a:r>
              <a:rPr/>
              <a:t> global (auth/email/MFA) + </a:t>
            </a:r>
            <a:r>
              <a:rPr>
                <a:latin typeface="Courier"/>
              </a:rPr>
              <a:t>OrganizationMember</a:t>
            </a:r>
            <a:r>
              <a:rPr/>
              <a:t> (par tenant : statut, rôles, locale) — </a:t>
            </a:r>
            <a:r>
              <a:rPr b="1"/>
              <a:t>codex reco</a:t>
            </a:r>
            <a:r>
              <a:rPr/>
              <a:t> ; </a:t>
            </a:r>
            <a:r>
              <a:rPr b="1"/>
              <a:t>(b)</a:t>
            </a:r>
            <a:r>
              <a:rPr/>
              <a:t> rester </a:t>
            </a:r>
            <a:r>
              <a:rPr>
                <a:latin typeface="Courier"/>
              </a:rPr>
              <a:t>User.organization_id</a:t>
            </a:r>
            <a:r>
              <a:rPr/>
              <a:t> mono-org MVP ; </a:t>
            </a:r>
            <a:r>
              <a:rPr b="1"/>
              <a:t>(c)</a:t>
            </a:r>
            <a:r>
              <a:rPr/>
              <a:t> support multi-org en MVP via table </a:t>
            </a:r>
            <a:r>
              <a:rPr>
                <a:latin typeface="Courier"/>
              </a:rPr>
              <a:t>UserOrgLink</a:t>
            </a:r>
            <a:r>
              <a:rPr/>
              <a:t>.</a:t>
            </a:r>
          </a:p>
          <a:p>
            <a:pPr lvl="0"/>
            <a:r>
              <a:rPr b="1"/>
              <a:t>Reco</a:t>
            </a:r>
            <a:r>
              <a:rPr/>
              <a:t> : (a) si tu veux des humains multi-org (consultants externes, partenaires) ; (b) si tu acceptes 1 humain = 1 compte par tenant. Plus simple mais friction utilisateur.</a:t>
            </a:r>
          </a:p>
          <a:p>
            <a:pPr lvl="0"/>
            <a:r>
              <a:rPr b="1"/>
              <a:t>Impact</a:t>
            </a:r>
            <a:r>
              <a:rPr/>
              <a:t> : décision foundation P0, change toutes les FK et tous les JWT.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PG-03 — Isolation multi-tenant </a:t>
            </a:r>
            <a:r>
              <a:rPr b="1">
                <a:latin typeface="Courier"/>
              </a:rPr>
              <a:t>OPEN-P0</a:t>
            </a:r>
          </a:p>
          <a:p>
            <a:pPr lvl="0"/>
            <a:r>
              <a:rPr/>
              <a:t>Foundation propose row-level </a:t>
            </a:r>
            <a:r>
              <a:rPr>
                <a:latin typeface="Courier"/>
              </a:rPr>
              <a:t>organization_id</a:t>
            </a:r>
            <a:r>
              <a:rPr/>
              <a:t> + Postgres RLS.</a:t>
            </a:r>
          </a:p>
          <a:p>
            <a:pPr lvl="0"/>
            <a:r>
              <a:rPr/>
              <a:t>Options : (a) row-level + RLS (reco foundation, </a:t>
            </a:r>
            <a:r>
              <a:rPr b="1"/>
              <a:t>conserve</a:t>
            </a:r>
            <a:r>
              <a:rPr/>
              <a:t>) ; (b) schema-per-tenant (impact migrations énorme) ; (c) DB-per-tenant (ops lourd MVP).</a:t>
            </a:r>
          </a:p>
          <a:p>
            <a:pPr lvl="0"/>
            <a:r>
              <a:rPr b="1"/>
              <a:t>Reco</a:t>
            </a:r>
            <a:r>
              <a:rPr/>
              <a:t> : (a) row-level + RLS. À acter formellement, bloque tous les schémas.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PG-04 — Queue engine unifié </a:t>
            </a:r>
            <a:r>
              <a:rPr b="1">
                <a:latin typeface="Courier"/>
              </a:rPr>
              <a:t>OPEN-P0</a:t>
            </a:r>
          </a:p>
          <a:p>
            <a:pPr lvl="0"/>
            <a:r>
              <a:rPr/>
              <a:t>Billing propose </a:t>
            </a:r>
            <a:r>
              <a:rPr>
                <a:latin typeface="Courier"/>
              </a:rPr>
              <a:t>pgmq</a:t>
            </a:r>
            <a:r>
              <a:rPr/>
              <a:t>, reporting et agentic muets ; risque 3 queues coexistantes.</a:t>
            </a:r>
          </a:p>
          <a:p>
            <a:pPr lvl="0"/>
            <a:r>
              <a:rPr/>
              <a:t>Options : (a) </a:t>
            </a:r>
            <a:r>
              <a:rPr b="1"/>
              <a:t>pgmq</a:t>
            </a:r>
            <a:r>
              <a:rPr/>
              <a:t> (PG-natif, simple ops) ; (b) BullMQ+Redis (Node mature) ; (c) NATS JetStream (polyglot) ; (d) managed (Inngest).</a:t>
            </a:r>
          </a:p>
          <a:p>
            <a:pPr lvl="0"/>
            <a:r>
              <a:rPr b="1"/>
              <a:t>Reco</a:t>
            </a:r>
            <a:r>
              <a:rPr/>
              <a:t> : (a) </a:t>
            </a:r>
            <a:r>
              <a:rPr>
                <a:latin typeface="Courier"/>
              </a:rPr>
              <a:t>pgmq</a:t>
            </a:r>
            <a:r>
              <a:rPr/>
              <a:t> pour MVP, interface </a:t>
            </a:r>
            <a:r>
              <a:rPr>
                <a:latin typeface="Courier"/>
              </a:rPr>
              <a:t>JobQueue</a:t>
            </a:r>
            <a:r>
              <a:rPr/>
              <a:t> abstraite pour migration future.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PG-05 — Catalogue i18n unifié </a:t>
            </a:r>
            <a:r>
              <a:rPr b="1">
                <a:latin typeface="Courier"/>
              </a:rPr>
              <a:t>OPEN-P0</a:t>
            </a:r>
          </a:p>
          <a:p>
            <a:pPr lvl="0"/>
            <a:r>
              <a:rPr/>
              <a:t>Foundation propose ICU JSON nested ; project utilise </a:t>
            </a:r>
            <a:r>
              <a:rPr>
                <a:latin typeface="Courier"/>
              </a:rPr>
              <a:t>fr_label</a:t>
            </a:r>
            <a:r>
              <a:rPr/>
              <a:t>/</a:t>
            </a:r>
            <a:r>
              <a:rPr>
                <a:latin typeface="Courier"/>
              </a:rPr>
              <a:t>en_label</a:t>
            </a:r>
            <a:r>
              <a:rPr/>
              <a:t> colonnes SQL (anti-pattern, incohérent avec foundation).</a:t>
            </a:r>
          </a:p>
          <a:p>
            <a:pPr lvl="0"/>
            <a:r>
              <a:rPr b="1"/>
              <a:t>Reco</a:t>
            </a:r>
            <a:r>
              <a:rPr/>
              <a:t> : ICU JSON nested + table </a:t>
            </a:r>
            <a:r>
              <a:rPr>
                <a:latin typeface="Courier"/>
              </a:rPr>
              <a:t>TranslationKey</a:t>
            </a:r>
            <a:r>
              <a:rPr/>
              <a:t> foundation, project corrige </a:t>
            </a:r>
            <a:r>
              <a:rPr>
                <a:latin typeface="Courier"/>
              </a:rPr>
              <a:t>ServiceActivity</a:t>
            </a:r>
            <a:r>
              <a:rPr/>
              <a:t> pour utiliser keys.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PG-06 — Canon entités partagées </a:t>
            </a:r>
            <a:r>
              <a:rPr b="1">
                <a:latin typeface="Courier"/>
              </a:rPr>
              <a:t>OPEN-P0</a:t>
            </a:r>
          </a:p>
          <a:p>
            <a:pPr lvl="0"/>
            <a:r>
              <a:rPr/>
              <a:t>Codex propose un canon que tu valides en bloc :</a:t>
            </a:r>
          </a:p>
          <a:p>
            <a:pPr lvl="1"/>
            <a:r>
              <a:rPr>
                <a:latin typeface="Courier"/>
              </a:rPr>
              <a:t>Organization</a:t>
            </a:r>
            <a:r>
              <a:rPr/>
              <a:t> = entité métier, </a:t>
            </a:r>
            <a:r>
              <a:rPr>
                <a:latin typeface="Courier"/>
              </a:rPr>
              <a:t>tenant_id</a:t>
            </a:r>
            <a:r>
              <a:rPr/>
              <a:t> = synonyme runtime/session</a:t>
            </a:r>
          </a:p>
          <a:p>
            <a:pPr lvl="1"/>
            <a:r>
              <a:rPr>
                <a:latin typeface="Courier"/>
              </a:rPr>
              <a:t>Money = {amount_minor: int, currency: string(3), scale: int}</a:t>
            </a:r>
            <a:r>
              <a:rPr/>
              <a:t> foundation</a:t>
            </a:r>
          </a:p>
          <a:p>
            <a:pPr lvl="1"/>
            <a:r>
              <a:rPr>
                <a:latin typeface="Courier"/>
              </a:rPr>
              <a:t>AuditEvent</a:t>
            </a:r>
            <a:r>
              <a:rPr/>
              <a:t> (compliance immutable) / </a:t>
            </a:r>
            <a:r>
              <a:rPr>
                <a:latin typeface="Courier"/>
              </a:rPr>
              <a:t>DomainEvent</a:t>
            </a:r>
            <a:r>
              <a:rPr/>
              <a:t> (intégration) / </a:t>
            </a:r>
            <a:r>
              <a:rPr>
                <a:latin typeface="Courier"/>
              </a:rPr>
              <a:t>TimelineEntry</a:t>
            </a:r>
            <a:r>
              <a:rPr/>
              <a:t> (projection lisible) — trois couches séparées</a:t>
            </a:r>
          </a:p>
          <a:p>
            <a:pPr lvl="1"/>
            <a:r>
              <a:rPr>
                <a:latin typeface="Courier"/>
              </a:rPr>
              <a:t>Activity</a:t>
            </a:r>
            <a:r>
              <a:rPr/>
              <a:t> → préfixer : </a:t>
            </a:r>
            <a:r>
              <a:rPr>
                <a:latin typeface="Courier"/>
              </a:rPr>
              <a:t>CrmActivity</a:t>
            </a:r>
            <a:r>
              <a:rPr/>
              <a:t>, </a:t>
            </a:r>
            <a:r>
              <a:rPr>
                <a:latin typeface="Courier"/>
              </a:rPr>
              <a:t>ProjectTask</a:t>
            </a:r>
            <a:r>
              <a:rPr/>
              <a:t>, </a:t>
            </a:r>
            <a:r>
              <a:rPr>
                <a:latin typeface="Courier"/>
              </a:rPr>
              <a:t>ServiceActivity</a:t>
            </a:r>
            <a:r>
              <a:rPr/>
              <a:t>, </a:t>
            </a:r>
            <a:r>
              <a:rPr>
                <a:latin typeface="Courier"/>
              </a:rPr>
              <a:t>AgentRun</a:t>
            </a:r>
          </a:p>
          <a:p>
            <a:pPr lvl="1"/>
            <a:r>
              <a:rPr>
                <a:latin typeface="Courier"/>
              </a:rPr>
              <a:t>Company</a:t>
            </a:r>
            <a:r>
              <a:rPr/>
              <a:t> = entité ; “customer” = rôle (</a:t>
            </a:r>
            <a:r>
              <a:rPr>
                <a:latin typeface="Courier"/>
              </a:rPr>
              <a:t>Company.is_customer = true</a:t>
            </a:r>
            <a:r>
              <a:rPr/>
              <a:t>)</a:t>
            </a:r>
          </a:p>
          <a:p>
            <a:pPr lvl="1"/>
            <a:r>
              <a:rPr>
                <a:latin typeface="Courier"/>
              </a:rPr>
              <a:t>Project</a:t>
            </a:r>
            <a:r>
              <a:rPr/>
              <a:t> owns </a:t>
            </a:r>
            <a:r>
              <a:rPr>
                <a:latin typeface="Courier"/>
              </a:rPr>
              <a:t>InvoiceProposal</a:t>
            </a:r>
            <a:r>
              <a:rPr/>
              <a:t> ; </a:t>
            </a:r>
            <a:r>
              <a:rPr>
                <a:latin typeface="Courier"/>
              </a:rPr>
              <a:t>Billing</a:t>
            </a:r>
            <a:r>
              <a:rPr/>
              <a:t> owns </a:t>
            </a:r>
            <a:r>
              <a:rPr>
                <a:latin typeface="Courier"/>
              </a:rPr>
              <a:t>Invoice</a:t>
            </a:r>
            <a:r>
              <a:rPr/>
              <a:t> ; centraliser </a:t>
            </a:r>
            <a:r>
              <a:rPr>
                <a:latin typeface="Courier"/>
              </a:rPr>
              <a:t>source_type/source_id</a:t>
            </a:r>
          </a:p>
          <a:p>
            <a:pPr lvl="0"/>
            <a:r>
              <a:rPr b="1"/>
              <a:t>Reco</a:t>
            </a:r>
            <a:r>
              <a:rPr/>
              <a:t> : valider ce canon en bloc + créer </a:t>
            </a:r>
            <a:r>
              <a:rPr>
                <a:latin typeface="Courier"/>
              </a:rPr>
              <a:t>docs/study/10-mvp-specs/shared-entities-v1.md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PG-07 — </a:t>
            </a:r>
            <a:r>
              <a:rPr b="1">
                <a:latin typeface="Courier"/>
              </a:rPr>
              <a:t>ApprovalRequest</a:t>
            </a:r>
            <a:r>
              <a:rPr b="1"/>
              <a:t> entité foundation </a:t>
            </a:r>
            <a:r>
              <a:rPr b="1">
                <a:latin typeface="Courier"/>
              </a:rPr>
              <a:t>OPEN-P1</a:t>
            </a:r>
          </a:p>
          <a:p>
            <a:pPr lvl="0"/>
            <a:r>
              <a:rPr/>
              <a:t>Foundation a </a:t>
            </a:r>
            <a:r>
              <a:rPr>
                <a:latin typeface="Courier"/>
              </a:rPr>
              <a:t>approve</a:t>
            </a:r>
            <a:r>
              <a:rPr/>
              <a:t> (action ACL), project a </a:t>
            </a:r>
            <a:r>
              <a:rPr>
                <a:latin typeface="Courier"/>
              </a:rPr>
              <a:t>TimeApproval</a:t>
            </a:r>
            <a:r>
              <a:rPr/>
              <a:t> (table), CRM a threshold, billing a void/write-off, agentic a approval-in-the-loop. </a:t>
            </a:r>
            <a:r>
              <a:rPr b="1"/>
              <a:t>Cinq réinventions</a:t>
            </a:r>
            <a:r>
              <a:rPr/>
              <a:t> sans canon.</a:t>
            </a:r>
          </a:p>
          <a:p>
            <a:pPr lvl="0"/>
            <a:r>
              <a:rPr b="1"/>
              <a:t>Reco</a:t>
            </a:r>
            <a:r>
              <a:rPr/>
              <a:t> : entité </a:t>
            </a:r>
            <a:r>
              <a:rPr>
                <a:latin typeface="Courier"/>
              </a:rPr>
              <a:t>ApprovalRequest {request_id, requester, approver, subject_type, subject_id, status, decision_reason, decided_at}</a:t>
            </a:r>
            <a:r>
              <a:rPr/>
              <a:t> dans foundation, consommée partout.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PG-08 — Idempotency-Key universel </a:t>
            </a:r>
            <a:r>
              <a:rPr b="1">
                <a:latin typeface="Courier"/>
              </a:rPr>
              <a:t>OPEN-P1</a:t>
            </a:r>
          </a:p>
          <a:p>
            <a:pPr lvl="0"/>
            <a:r>
              <a:rPr/>
              <a:t>Foundation propose Idempotency-Key sur 4 endpoints seulement. Trop restrictif (reviewers d’accord).</a:t>
            </a:r>
          </a:p>
          <a:p>
            <a:pPr lvl="0"/>
            <a:r>
              <a:rPr b="1"/>
              <a:t>Reco</a:t>
            </a:r>
            <a:r>
              <a:rPr/>
              <a:t> : </a:t>
            </a:r>
            <a:r>
              <a:rPr>
                <a:latin typeface="Courier"/>
              </a:rPr>
              <a:t>Idempotency-Key</a:t>
            </a:r>
            <a:r>
              <a:rPr/>
              <a:t> header obligatoire sur </a:t>
            </a:r>
            <a:r>
              <a:rPr b="1"/>
              <a:t>toute</a:t>
            </a:r>
            <a:r>
              <a:rPr/>
              <a:t> POST/DELETE à side-effect métier ; pattern dans foundation.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PG-09 — Identité agent </a:t>
            </a:r>
            <a:r>
              <a:rPr b="1">
                <a:latin typeface="Courier"/>
              </a:rPr>
              <a:t>OPEN-P1</a:t>
            </a:r>
          </a:p>
          <a:p>
            <a:pPr lvl="0"/>
            <a:r>
              <a:rPr/>
              <a:t>Agentic propose JWT signé OpenERP-native, foundation auth = cookie HTTP-only humain.</a:t>
            </a:r>
          </a:p>
          <a:p>
            <a:pPr lvl="0"/>
            <a:r>
              <a:rPr b="1"/>
              <a:t>Reco</a:t>
            </a:r>
            <a:r>
              <a:rPr/>
              <a:t> : hybride — cookie pour humains, JWT signé pour agents ; </a:t>
            </a:r>
            <a:r>
              <a:rPr>
                <a:latin typeface="Courier"/>
              </a:rPr>
              <a:t>User.actor_type = human | agent | system</a:t>
            </a:r>
            <a:r>
              <a:rPr/>
              <a:t>. À acter foundation + agentic ensemble.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PG-10 — Stack BI / dashboard </a:t>
            </a:r>
            <a:r>
              <a:rPr b="1">
                <a:latin typeface="Courier"/>
              </a:rPr>
              <a:t>OPEN-P1</a:t>
            </a:r>
          </a:p>
          <a:p>
            <a:pPr lvl="0"/>
            <a:r>
              <a:rPr/>
              <a:t>Reporting propose </a:t>
            </a:r>
            <a:r>
              <a:rPr>
                <a:latin typeface="Courier"/>
              </a:rPr>
              <a:t>native SvelteKit dashboard component</a:t>
            </a:r>
            <a:r>
              <a:rPr/>
              <a:t> ; CRM/project ont besoin de dashboards sans engagement clair.</a:t>
            </a:r>
          </a:p>
          <a:p>
            <a:pPr lvl="0"/>
            <a:r>
              <a:rPr/>
              <a:t>Options : (a) native SvelteKit + primitive foundation </a:t>
            </a:r>
            <a:r>
              <a:rPr>
                <a:latin typeface="Courier"/>
              </a:rPr>
              <a:t>Widget</a:t>
            </a:r>
            <a:r>
              <a:rPr/>
              <a:t>/</a:t>
            </a:r>
            <a:r>
              <a:rPr>
                <a:latin typeface="Courier"/>
              </a:rPr>
              <a:t>Dashboard</a:t>
            </a:r>
            <a:r>
              <a:rPr/>
              <a:t> ; (b) Superset embed iframe ; (c) Grafana Apache embed.</a:t>
            </a:r>
          </a:p>
          <a:p>
            <a:pPr lvl="0"/>
            <a:r>
              <a:rPr b="1"/>
              <a:t>Reco</a:t>
            </a:r>
            <a:r>
              <a:rPr/>
              <a:t> : (a) primitive native, Superset/Grafana en pack post-MVP optionnel. Évite dérive Superset-clone.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PG-11 — Stack PDF rendering </a:t>
            </a:r>
            <a:r>
              <a:rPr b="1">
                <a:latin typeface="Courier"/>
              </a:rPr>
              <a:t>OPEN-P2</a:t>
            </a:r>
          </a:p>
          <a:p>
            <a:pPr lvl="0"/>
            <a:r>
              <a:rPr/>
              <a:t>Reporting propose server-side template ; billing parle de PDF FR/EN sans préciser.</a:t>
            </a:r>
          </a:p>
          <a:p>
            <a:pPr lvl="0"/>
            <a:r>
              <a:rPr/>
              <a:t>Options : (a) Typst ou React-PDF server-side ; (b) headless browser (Playwright) ; (c) PDFKit.</a:t>
            </a:r>
          </a:p>
          <a:p>
            <a:pPr lvl="0"/>
            <a:r>
              <a:rPr b="1"/>
              <a:t>Reco</a:t>
            </a:r>
            <a:r>
              <a:rPr/>
              <a:t> : (a) server-side template aligne reporting + billing + foundation. Évite Chromium en self-host.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PG-12 — Anti-copy review process </a:t>
            </a:r>
            <a:r>
              <a:rPr b="1">
                <a:latin typeface="Courier"/>
              </a:rPr>
              <a:t>OPEN-P2</a:t>
            </a:r>
          </a:p>
          <a:p>
            <a:pPr lvl="0"/>
            <a:r>
              <a:rPr/>
              <a:t>23 hotspots consolidés (Chatter Odoo, ObjectMetadata Twenty, account_move Odoo, mail.thread, ir.rule, etc.). Aucun owner programme + aucun script CI.</a:t>
            </a:r>
          </a:p>
          <a:p>
            <a:pPr lvl="0"/>
            <a:r>
              <a:rPr b="1"/>
              <a:t>Reco</a:t>
            </a:r>
            <a:r>
              <a:rPr/>
              <a:t> : (a) un owner anti-copy nommé qui revoit chaque PR ; (b) script </a:t>
            </a:r>
            <a:r>
              <a:rPr>
                <a:latin typeface="Courier"/>
              </a:rPr>
              <a:t>tools/anti-copy-grep.sh</a:t>
            </a:r>
            <a:r>
              <a:rPr/>
              <a:t> qui grep les patterns interdits à chaque commit.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Décisions clés par spec (résumé)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Foundation</a:t>
            </a:r>
          </a:p>
          <a:p>
            <a:pPr lvl="0"/>
            <a:r>
              <a:rPr/>
              <a:t>F-1 RBAC plat </a:t>
            </a:r>
            <a:r>
              <a:rPr>
                <a:latin typeface="Courier"/>
              </a:rPr>
              <a:t>resource.action.scope</a:t>
            </a:r>
            <a:r>
              <a:rPr/>
              <a:t> confirmé</a:t>
            </a:r>
          </a:p>
          <a:p>
            <a:pPr lvl="0"/>
            <a:r>
              <a:rPr/>
              <a:t>F-2 Étendre </a:t>
            </a:r>
            <a:r>
              <a:rPr>
                <a:latin typeface="Courier"/>
              </a:rPr>
              <a:t>AuditEvent</a:t>
            </a:r>
            <a:r>
              <a:rPr/>
              <a:t> foundation avec colonnes optionnelles agentiques (</a:t>
            </a:r>
            <a:r>
              <a:rPr>
                <a:latin typeface="Courier"/>
              </a:rPr>
              <a:t>source</a:t>
            </a:r>
            <a:r>
              <a:rPr/>
              <a:t>, </a:t>
            </a:r>
            <a:r>
              <a:rPr>
                <a:latin typeface="Courier"/>
              </a:rPr>
              <a:t>agent_id</a:t>
            </a:r>
            <a:r>
              <a:rPr/>
              <a:t>, </a:t>
            </a:r>
            <a:r>
              <a:rPr>
                <a:latin typeface="Courier"/>
              </a:rPr>
              <a:t>tool_call_id</a:t>
            </a:r>
            <a:r>
              <a:rPr/>
              <a:t>, </a:t>
            </a:r>
            <a:r>
              <a:rPr>
                <a:latin typeface="Courier"/>
              </a:rPr>
              <a:t>policy_decision_id</a:t>
            </a:r>
            <a:r>
              <a:rPr/>
              <a:t>) </a:t>
            </a:r>
            <a:r>
              <a:rPr b="1"/>
              <a:t>avant</a:t>
            </a:r>
            <a:r>
              <a:rPr/>
              <a:t> que les autres specs ne dépendent du schéma</a:t>
            </a:r>
          </a:p>
          <a:p>
            <a:pPr lvl="0"/>
            <a:r>
              <a:rPr/>
              <a:t>F-3 Audit log = table append-only partitionnée par mois, rétention défaut 1 an, plancher 90j</a:t>
            </a:r>
          </a:p>
          <a:p>
            <a:pPr lvl="0"/>
            <a:r>
              <a:rPr/>
              <a:t>F-4 Auth MVP = password + TOTP (passkey post-MVP)</a:t>
            </a:r>
          </a:p>
          <a:p>
            <a:pPr lvl="0"/>
            <a:r>
              <a:rPr/>
              <a:t>F-5 Permission granularity = objet uniquement MVP, hook record-policy réservé post-MVP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CRM</a:t>
            </a:r>
          </a:p>
          <a:p>
            <a:pPr lvl="0"/>
            <a:r>
              <a:rPr/>
              <a:t>C-1 Lead/Opportunity séparés (Odoo-style abstrait, pas verbatim)</a:t>
            </a:r>
          </a:p>
          <a:p>
            <a:pPr lvl="0"/>
            <a:r>
              <a:rPr/>
              <a:t>C-2 Custom fields = JSON column + </a:t>
            </a:r>
            <a:r>
              <a:rPr>
                <a:latin typeface="Courier"/>
              </a:rPr>
              <a:t>CustomFieldDefinition</a:t>
            </a:r>
            <a:r>
              <a:rPr/>
              <a:t> declarative </a:t>
            </a:r>
            <a:r>
              <a:rPr b="1"/>
              <a:t>limité</a:t>
            </a:r>
            <a:r>
              <a:rPr/>
              <a:t> (pas de runtime metadata engine, anti-copy Twenty)</a:t>
            </a:r>
          </a:p>
          <a:p>
            <a:pPr lvl="0"/>
            <a:r>
              <a:rPr/>
              <a:t>C-3 Multi-currency par opportunité — à valider avec billing</a:t>
            </a:r>
          </a:p>
          <a:p>
            <a:pPr lvl="0"/>
            <a:r>
              <a:rPr/>
              <a:t>C-4 QuoteHandoff : CRM owns handoff event, billing owns quote doc</a:t>
            </a:r>
          </a:p>
          <a:p>
            <a:pPr lvl="0"/>
            <a:r>
              <a:rPr/>
              <a:t>C-5 Pipeline stage translation = table dédiée (pas keys dynamiques avec tenant_id) — désaccord reviewer corrigé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Project + Time</a:t>
            </a:r>
          </a:p>
          <a:p>
            <a:pPr lvl="0"/>
            <a:r>
              <a:rPr/>
              <a:t>P-1 Time entry = manual + timer optionnel (codex réserve : timer post-MVP recommandé)</a:t>
            </a:r>
          </a:p>
          <a:p>
            <a:pPr lvl="0"/>
            <a:r>
              <a:rPr/>
              <a:t>P-2 Approval per-week (vs per-entry trop granulaire, vs per-project trop coarse)</a:t>
            </a:r>
          </a:p>
          <a:p>
            <a:pPr lvl="0"/>
            <a:r>
              <a:rPr/>
              <a:t>P-3 Invoice trigger = mix manuel + milestone, récurrent post-MVP</a:t>
            </a:r>
          </a:p>
          <a:p>
            <a:pPr lvl="0"/>
            <a:r>
              <a:rPr/>
              <a:t>P-4 Tâche hiérarchie = parent-enfant 1 niveau MVP, portfolio post-MVP</a:t>
            </a:r>
          </a:p>
          <a:p>
            <a:pPr lvl="0"/>
            <a:r>
              <a:rPr/>
              <a:t>P-5 Lien projet ↔ opportunité = 1:N (un projet peut consommer plusieurs opportunités)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Billing + Accounting</a:t>
            </a:r>
          </a:p>
          <a:p>
            <a:pPr lvl="0"/>
            <a:r>
              <a:rPr/>
              <a:t>B-1 Subscription = native simple + interface compatible Kill Bill pour migration</a:t>
            </a:r>
          </a:p>
          <a:p>
            <a:pPr lvl="0"/>
            <a:r>
              <a:rPr/>
              <a:t>B-2 Plan comptable = pré-chargé CA/QC abstrait + révision juridique avant pilote</a:t>
            </a:r>
          </a:p>
          <a:p>
            <a:pPr lvl="0"/>
            <a:r>
              <a:rPr/>
              <a:t>B-3 Tax engine = pluggable interne versionné (GST/QST règles)</a:t>
            </a:r>
          </a:p>
          <a:p>
            <a:pPr lvl="0"/>
            <a:r>
              <a:rPr/>
              <a:t>B-4 Multi-currency = MVP (impact CRM + reporting), book tenant single, transactions multidevises</a:t>
            </a:r>
          </a:p>
          <a:p>
            <a:pPr lvl="0"/>
            <a:r>
              <a:rPr/>
              <a:t>B-5 Payment = Stripe seul MVP, multi-PSP via abstraction prête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Reporting + Automation</a:t>
            </a:r>
          </a:p>
          <a:p>
            <a:pPr lvl="0"/>
            <a:r>
              <a:rPr/>
              <a:t>R-1 BI = native SvelteKit + primitive foundation </a:t>
            </a:r>
            <a:r>
              <a:rPr>
                <a:latin typeface="Courier"/>
              </a:rPr>
              <a:t>Widget</a:t>
            </a:r>
            <a:r>
              <a:rPr/>
              <a:t> (cf. PG-10)</a:t>
            </a:r>
          </a:p>
          <a:p>
            <a:pPr lvl="0"/>
            <a:r>
              <a:rPr/>
              <a:t>R-2 Automation = typed YAML DSL + TS handlers, pas de Node-RED canvas MVP</a:t>
            </a:r>
          </a:p>
          <a:p>
            <a:pPr lvl="0"/>
            <a:r>
              <a:rPr/>
              <a:t>R-3 Scheduled reports = </a:t>
            </a:r>
            <a:r>
              <a:rPr>
                <a:latin typeface="Courier"/>
              </a:rPr>
              <a:t>pgmq</a:t>
            </a:r>
            <a:r>
              <a:rPr/>
              <a:t> cron (cf. PG-04)</a:t>
            </a:r>
          </a:p>
          <a:p>
            <a:pPr lvl="0"/>
            <a:r>
              <a:rPr/>
              <a:t>R-4 Drill-down = live SQL MVP, materialized views post-MVP</a:t>
            </a:r>
          </a:p>
          <a:p>
            <a:pPr lvl="0"/>
            <a:r>
              <a:rPr/>
              <a:t>R-5 Permissions = via foundation RBAC, </a:t>
            </a:r>
            <a:r>
              <a:rPr b="1"/>
              <a:t>+ assouplissement codex</a:t>
            </a:r>
            <a:r>
              <a:rPr/>
              <a:t> : autoriser dashboards “team-scope” (vs admin-curated only trop strict)</a:t>
            </a:r>
          </a:p>
          <a:p>
            <a:pPr lvl="0"/>
            <a:r>
              <a:rPr/>
              <a:t>R-6 PDF = server-side template (cf. PG-11)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Agentic Impacts</a:t>
            </a:r>
          </a:p>
          <a:p>
            <a:pPr lvl="0"/>
            <a:r>
              <a:rPr/>
              <a:t>A-1 Sandbox = isolated-vm pour code interne signé MVP, gVisor en option pack vertical post-MVP (codex désaccord : isolated-vm n’est pas une frontière suffisante si code tiers hostile ; à acter MVP-scope handlers internes seulement)</a:t>
            </a:r>
          </a:p>
          <a:p>
            <a:pPr lvl="0"/>
            <a:r>
              <a:rPr/>
              <a:t>A-2 Policy = native TS MVP, OPA en pack post-MVP</a:t>
            </a:r>
          </a:p>
          <a:p>
            <a:pPr lvl="0"/>
            <a:r>
              <a:rPr/>
              <a:t>A-3 Observability = OpenInference + OpenLLMetry MVP</a:t>
            </a:r>
          </a:p>
          <a:p>
            <a:pPr lvl="0"/>
            <a:r>
              <a:rPr/>
              <a:t>A-4 Identity = JWT signé (cf. PG-09)</a:t>
            </a:r>
          </a:p>
          <a:p>
            <a:pPr lvl="0"/>
            <a:r>
              <a:rPr/>
              <a:t>A-5 MCP registry = interne native MVP</a:t>
            </a:r>
          </a:p>
          <a:p>
            <a:pPr lvl="0"/>
            <a:r>
              <a:rPr/>
              <a:t>A-6 Supervision UI = hybride inline + panneau </a:t>
            </a:r>
            <a:r>
              <a:rPr>
                <a:latin typeface="Courier"/>
              </a:rPr>
              <a:t>/supervision</a:t>
            </a:r>
            <a:r>
              <a:rPr/>
              <a:t> ; </a:t>
            </a:r>
            <a:r>
              <a:rPr b="1"/>
              <a:t>contrainte transverse</a:t>
            </a:r>
            <a:r>
              <a:rPr/>
              <a:t> : tout écran métier réserve une zone “supervision banner”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Séquence de décision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Quatre phases. Tu arbitres dans l’ordre.</a:t>
            </a:r>
          </a:p>
          <a:p>
            <a:pPr lvl="0" indent="0" marL="0">
              <a:buNone/>
            </a:pPr>
            <a:r>
              <a:rPr b="1"/>
              <a:t>P0 — semaine 0 (bloque code)</a:t>
            </a:r>
            <a:r>
              <a:rPr/>
              <a:t> PG-01 ✓ (résolu) · PG-02 identité multi-tenant · PG-03 isolation RLS · PG-04 queue · PG-05 i18n · PG-06 canon entités</a:t>
            </a:r>
          </a:p>
          <a:p>
            <a:pPr lvl="0" indent="0" marL="0">
              <a:buNone/>
            </a:pPr>
            <a:r>
              <a:rPr b="1"/>
              <a:t>P1 — semaine 1-2 (architectural)</a:t>
            </a:r>
            <a:r>
              <a:rPr/>
              <a:t> PG-07 ApprovalRequest · PG-08 Idempotency-Key · PG-09 identité agent · PG-10 BI stack</a:t>
            </a:r>
          </a:p>
          <a:p>
            <a:pPr lvl="0" indent="0" marL="0">
              <a:buNone/>
            </a:pPr>
            <a:r>
              <a:rPr b="1"/>
              <a:t>P2 — semaine 2-3 (produit)</a:t>
            </a:r>
            <a:r>
              <a:rPr/>
              <a:t> PG-11 PDF · PG-12 anti-copy process · F-1 à F-5 · C-1 à C-5 · P-1 à P-5 · B-1 à B-5 · R-1 à R-6 · A-1 à A-6</a:t>
            </a:r>
          </a:p>
          <a:p>
            <a:pPr lvl="0" indent="0" marL="0">
              <a:buNone/>
            </a:pPr>
            <a:r>
              <a:rPr b="1"/>
              <a:t>P3 — semaine 3-4 (opérationnel)</a:t>
            </a:r>
            <a:r>
              <a:rPr/>
              <a:t> Rename </a:t>
            </a:r>
            <a:r>
              <a:rPr>
                <a:latin typeface="Courier"/>
              </a:rPr>
              <a:t>@sentropic</a:t>
            </a:r>
            <a:r>
              <a:rPr/>
              <a:t> swept · NOTICE racine créé · script anti-copy CI · spec figée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Désaccords reviewers à porter à ta connaissance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Sandbox MVP</a:t>
            </a:r>
            <a:r>
              <a:rPr/>
              <a:t> : codex conteste isolated-vm si MVP doit accueillir du code tiers hostile. Si MVP = handlers internes signés uniquement, isolated-vm OK ; à clarifier le scope.</a:t>
            </a:r>
          </a:p>
          <a:p>
            <a:pPr lvl="0"/>
            <a:r>
              <a:rPr b="1"/>
              <a:t>Reporting team-scope</a:t>
            </a:r>
            <a:r>
              <a:rPr/>
              <a:t> : Claude reviewer recommande d’assouplir “admin-curated only” pour autoriser dashboards team-scope ; sinon utilisateurs exportent en Excel.</a:t>
            </a:r>
          </a:p>
          <a:p>
            <a:pPr lvl="0"/>
            <a:r>
              <a:rPr b="1"/>
              <a:t>CRM Activity vs Task fusion</a:t>
            </a:r>
            <a:r>
              <a:rPr/>
              <a:t> : codex en désaccord avec unification CRM → préfère </a:t>
            </a:r>
            <a:r>
              <a:rPr>
                <a:latin typeface="Courier"/>
              </a:rPr>
              <a:t>Task</a:t>
            </a:r>
            <a:r>
              <a:rPr/>
              <a:t> ≠ </a:t>
            </a:r>
            <a:r>
              <a:rPr>
                <a:latin typeface="Courier"/>
              </a:rPr>
              <a:t>Interaction</a:t>
            </a:r>
            <a:r>
              <a:rPr/>
              <a:t> (cycle de vie distinct). À trancher.</a:t>
            </a:r>
          </a:p>
          <a:p>
            <a:pPr lvl="0"/>
            <a:r>
              <a:rPr b="1"/>
              <a:t>AGT-D-12 commitment upstream </a:t>
            </a:r>
            <a:r>
              <a:rPr b="1">
                <a:latin typeface="Courier"/>
              </a:rPr>
              <a:t>@sentropic</a:t>
            </a:r>
            <a:r>
              <a:rPr/>
              <a:t> : Claude reviewer suggère reformulation neutre “fork interne avec roadmap d’évaluation retour upstream à 6 mois” pour éviter engagement irréaliste.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Anti-copy hotspots — top 12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AutoNum type="arabicPeriod"/>
            </a:pPr>
            <a:r>
              <a:rPr/>
              <a:t>Odoo </a:t>
            </a:r>
            <a:r>
              <a:rPr>
                <a:latin typeface="Courier"/>
              </a:rPr>
              <a:t>mail.thread</a:t>
            </a:r>
            <a:r>
              <a:rPr/>
              <a:t> / Chatter (CRM + foundation Comment)</a:t>
            </a:r>
          </a:p>
          <a:p>
            <a:pPr lvl="0">
              <a:buAutoNum type="arabicPeriod"/>
            </a:pPr>
            <a:r>
              <a:rPr/>
              <a:t>Twenty </a:t>
            </a:r>
            <a:r>
              <a:rPr>
                <a:latin typeface="Courier"/>
              </a:rPr>
              <a:t>ObjectMetadata</a:t>
            </a:r>
            <a:r>
              <a:rPr/>
              <a:t> engine (CRM custom fields)</a:t>
            </a:r>
          </a:p>
          <a:p>
            <a:pPr lvl="0">
              <a:buAutoNum type="arabicPeriod"/>
            </a:pPr>
            <a:r>
              <a:rPr/>
              <a:t>Twenty </a:t>
            </a:r>
            <a:r>
              <a:rPr>
                <a:latin typeface="Courier"/>
              </a:rPr>
              <a:t>workspaceMember</a:t>
            </a:r>
            <a:r>
              <a:rPr/>
              <a:t> (foundation)</a:t>
            </a:r>
          </a:p>
          <a:p>
            <a:pPr lvl="0">
              <a:buAutoNum type="arabicPeriod"/>
            </a:pPr>
            <a:r>
              <a:rPr/>
              <a:t>Odoo </a:t>
            </a:r>
            <a:r>
              <a:rPr>
                <a:latin typeface="Courier"/>
              </a:rPr>
              <a:t>ir.model.fields</a:t>
            </a:r>
            <a:r>
              <a:rPr/>
              <a:t> field-ACL (foundation)</a:t>
            </a:r>
          </a:p>
          <a:p>
            <a:pPr lvl="0">
              <a:buAutoNum type="arabicPeriod"/>
            </a:pPr>
            <a:r>
              <a:rPr/>
              <a:t>Odoo </a:t>
            </a:r>
            <a:r>
              <a:rPr>
                <a:latin typeface="Courier"/>
              </a:rPr>
              <a:t>mail.activity</a:t>
            </a:r>
            <a:r>
              <a:rPr/>
              <a:t> / </a:t>
            </a:r>
            <a:r>
              <a:rPr>
                <a:latin typeface="Courier"/>
              </a:rPr>
              <a:t>mail.message</a:t>
            </a:r>
            <a:r>
              <a:rPr/>
              <a:t> split (CRM)</a:t>
            </a:r>
          </a:p>
          <a:p>
            <a:pPr lvl="0">
              <a:buAutoNum type="arabicPeriod"/>
            </a:pPr>
            <a:r>
              <a:rPr/>
              <a:t>Odoo </a:t>
            </a:r>
            <a:r>
              <a:rPr>
                <a:latin typeface="Courier"/>
              </a:rPr>
              <a:t>l10n_ca</a:t>
            </a:r>
            <a:r>
              <a:rPr/>
              <a:t> (billing)</a:t>
            </a:r>
          </a:p>
          <a:p>
            <a:pPr lvl="0">
              <a:buAutoNum type="arabicPeriod"/>
            </a:pPr>
            <a:r>
              <a:rPr/>
              <a:t>Odoo </a:t>
            </a:r>
            <a:r>
              <a:rPr>
                <a:latin typeface="Courier"/>
              </a:rPr>
              <a:t>account.move</a:t>
            </a:r>
            <a:r>
              <a:rPr/>
              <a:t> / </a:t>
            </a:r>
            <a:r>
              <a:rPr>
                <a:latin typeface="Courier"/>
              </a:rPr>
              <a:t>account.move.line</a:t>
            </a:r>
            <a:r>
              <a:rPr/>
              <a:t> (billing)</a:t>
            </a:r>
          </a:p>
          <a:p>
            <a:pPr lvl="0">
              <a:buAutoNum type="arabicPeriod"/>
            </a:pPr>
            <a:r>
              <a:rPr/>
              <a:t>Odoo </a:t>
            </a:r>
            <a:r>
              <a:rPr>
                <a:latin typeface="Courier"/>
              </a:rPr>
              <a:t>auth_totp</a:t>
            </a:r>
            <a:r>
              <a:rPr/>
              <a:t> UI text (foundation)</a:t>
            </a:r>
          </a:p>
          <a:p>
            <a:pPr lvl="0">
              <a:buAutoNum type="arabicPeriod"/>
            </a:pPr>
            <a:r>
              <a:rPr/>
              <a:t>Odoo </a:t>
            </a:r>
            <a:r>
              <a:rPr>
                <a:latin typeface="Courier"/>
              </a:rPr>
              <a:t>ir.rule</a:t>
            </a:r>
            <a:r>
              <a:rPr/>
              <a:t> record rules DSL (foundation)</a:t>
            </a:r>
          </a:p>
          <a:p>
            <a:pPr lvl="0">
              <a:buAutoNum type="arabicPeriod"/>
            </a:pPr>
            <a:r>
              <a:rPr/>
              <a:t>Kimai timesheet entities + invoice renderers (project)</a:t>
            </a:r>
          </a:p>
          <a:p>
            <a:pPr lvl="0">
              <a:buAutoNum type="arabicPeriod"/>
            </a:pPr>
            <a:r>
              <a:rPr/>
              <a:t>Superset chart controls + Selenium PDF (reporting)</a:t>
            </a:r>
          </a:p>
          <a:p>
            <a:pPr lvl="0">
              <a:buAutoNum type="arabicPeriod"/>
            </a:pPr>
            <a:r>
              <a:rPr/>
              <a:t>Node-RED node palette + flow JSON (reporting)</a:t>
            </a:r>
          </a:p>
          <a:p>
            <a:pPr lvl="0" indent="0" marL="0">
              <a:buNone/>
            </a:pPr>
            <a:r>
              <a:rPr/>
              <a:t>Liste complète (23 hotspots) dans </a:t>
            </a:r>
            <a:r>
              <a:rPr>
                <a:latin typeface="Courier"/>
              </a:rPr>
              <a:t>tmp/claude-cross-review.md</a:t>
            </a:r>
            <a:r>
              <a:rPr/>
              <a:t> section 9.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Action porteur produit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AutoNum type="arabicPeriod"/>
            </a:pPr>
            <a:r>
              <a:rPr/>
              <a:t>Arbitrer les </a:t>
            </a:r>
            <a:r>
              <a:rPr b="1"/>
              <a:t>6 décisions P0</a:t>
            </a:r>
            <a:r>
              <a:rPr/>
              <a:t> (PG-02 à PG-06) — tout bloque sur ces choix.</a:t>
            </a:r>
          </a:p>
          <a:p>
            <a:pPr lvl="0">
              <a:buAutoNum type="arabicPeriod"/>
            </a:pPr>
            <a:r>
              <a:rPr/>
              <a:t>Valider le canon entités PG-06 en bloc — c’est le contrat transverse.</a:t>
            </a:r>
          </a:p>
          <a:p>
            <a:pPr lvl="0">
              <a:buAutoNum type="arabicPeriod"/>
            </a:pPr>
            <a:r>
              <a:rPr/>
              <a:t>Confirmer PG-04 queue + PG-05 i18n + PG-07 ApprovalRequest.</a:t>
            </a:r>
          </a:p>
          <a:p>
            <a:pPr lvl="0">
              <a:buAutoNum type="arabicPeriod"/>
            </a:pPr>
            <a:r>
              <a:rPr/>
              <a:t>Délégation reste : je grave les décisions inline dans les 6 specs, je sweep </a:t>
            </a:r>
            <a:r>
              <a:rPr>
                <a:latin typeface="Courier"/>
              </a:rPr>
              <a:t>@entropiq</a:t>
            </a:r>
            <a:r>
              <a:rPr/>
              <a:t> → </a:t>
            </a:r>
            <a:r>
              <a:rPr>
                <a:latin typeface="Courier"/>
              </a:rPr>
              <a:t>@sentropic</a:t>
            </a:r>
            <a:r>
              <a:rPr/>
              <a:t>, je passe en mode réalisation/audit.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Fin du decision-pack.</a:t>
            </a:r>
            <a:r>
              <a:rPr/>
              <a:t> Version PPTX à venir dans la même PR.</a:t>
            </a:r>
          </a:p>
        </p:txBody>
      </p:sp>
    </p:spTree>
  </p:cSld>
</p:sld>
</file>

<file path=ppt/theme/theme1.xml><?xml version="1.0" encoding="utf-8"?>
<a:theme xmlns:a="http://schemas.openxmlformats.org/drawingml/2006/main" name="OpenERP">
  <a:themeElements>
    <a:clrScheme name="OpenERP">
      <a:dk1>
        <a:srgbClr val="172033"/>
      </a:dk1>
      <a:lt1>
        <a:srgbClr val="FFFFFF"/>
      </a:lt1>
      <a:dk2>
        <a:srgbClr val="334155"/>
      </a:dk2>
      <a:lt2>
        <a:srgbClr val="F7F9FC"/>
      </a:lt2>
      <a:accent1>
        <a:srgbClr val="0F9F9A"/>
      </a:accent1>
      <a:accent2>
        <a:srgbClr val="2563EB"/>
      </a:accent2>
      <a:accent3>
        <a:srgbClr val="1E9B57"/>
      </a:accent3>
      <a:accent4>
        <a:srgbClr val="D89000"/>
      </a:accent4>
      <a:accent5>
        <a:srgbClr val="6D5BD0"/>
      </a:accent5>
      <a:accent6>
        <a:srgbClr val="C2413B"/>
      </a:accent6>
      <a:hlink>
        <a:srgbClr val="2563EB"/>
      </a:hlink>
      <a:folHlink>
        <a:srgbClr val="6D5BD0"/>
      </a:folHlink>
    </a:clrScheme>
    <a:fontScheme name="OpenERP">
      <a:majorFont>
        <a:latin typeface="DejaVu Sans"/>
      </a:majorFont>
      <a:minorFont>
        <a:latin typeface="DejaVu Sans"/>
      </a:minorFont>
    </a:fontScheme>
    <a:fmtScheme name="OpenERP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OpenERP Study Generator</Application>
  <PresentationFormat>On-screen Show (16:9)</PresentationFormat>
  <Slides>17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2026-05-13T01:21:53Z</dcterms:created>
  <dcterms:modified xsi:type="dcterms:W3CDTF">2026-05-13T01:21:53Z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